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5" r:id="rId1"/>
  </p:sldMasterIdLst>
  <p:notesMasterIdLst>
    <p:notesMasterId r:id="rId12"/>
  </p:notesMasterIdLst>
  <p:sldIdLst>
    <p:sldId id="256" r:id="rId2"/>
    <p:sldId id="259" r:id="rId3"/>
    <p:sldId id="260" r:id="rId4"/>
    <p:sldId id="261" r:id="rId5"/>
    <p:sldId id="262" r:id="rId6"/>
    <p:sldId id="263" r:id="rId7"/>
    <p:sldId id="267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F3ABDB-F4E5-4EB7-9865-88A726A5C518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51EFC-3405-4CA8-B66A-B1304DAD7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9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51EFC-3405-4CA8-B66A-B1304DAD7BC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65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1041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9433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64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750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005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790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584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82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324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912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80158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6733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3716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86592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9093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670628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4425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2000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5106912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28871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12988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3211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0861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4143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7426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52913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4638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AC203D0-24C2-4898-BF4D-9D42BB7BC878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E7D490F4-0160-47F0-BEC4-79A38D92DE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2090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  <p:sldLayoutId id="2147483870" r:id="rId15"/>
    <p:sldLayoutId id="2147483871" r:id="rId16"/>
    <p:sldLayoutId id="2147483872" r:id="rId17"/>
    <p:sldLayoutId id="2147483873" r:id="rId18"/>
    <p:sldLayoutId id="2147483874" r:id="rId19"/>
    <p:sldLayoutId id="2147483875" r:id="rId20"/>
    <p:sldLayoutId id="2147483876" r:id="rId21"/>
    <p:sldLayoutId id="2147483877" r:id="rId22"/>
    <p:sldLayoutId id="2147483878" r:id="rId23"/>
    <p:sldLayoutId id="2147483879" r:id="rId24"/>
    <p:sldLayoutId id="2147483880" r:id="rId25"/>
    <p:sldLayoutId id="2147483881" r:id="rId26"/>
    <p:sldLayoutId id="2147483882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98BCCA3-DC0D-1662-A645-B9CC9EBCD8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2"/>
          <a:stretch>
            <a:fillRect/>
          </a:stretch>
        </p:blipFill>
        <p:spPr>
          <a:xfrm>
            <a:off x="436635" y="184084"/>
            <a:ext cx="3148128" cy="11432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1493F-9DFB-EE1E-2875-15AF21B69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241" y="184084"/>
            <a:ext cx="3291124" cy="11432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8AB4B0E-2B8B-26EA-84F5-5FE1BBBA2C18}"/>
              </a:ext>
            </a:extLst>
          </p:cNvPr>
          <p:cNvSpPr txBox="1"/>
          <p:nvPr/>
        </p:nvSpPr>
        <p:spPr>
          <a:xfrm>
            <a:off x="1297858" y="1710814"/>
            <a:ext cx="9596284" cy="964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kern="10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Offline-First Emergency &amp; Community Network</a:t>
            </a:r>
          </a:p>
          <a:p>
            <a:pPr algn="ctr">
              <a:spcAft>
                <a:spcPts val="800"/>
              </a:spcAft>
            </a:pPr>
            <a:r>
              <a:rPr lang="en-US" sz="1600" i="1" dirty="0">
                <a:latin typeface="+mj-lt"/>
              </a:rPr>
              <a:t>When the network fails, critical communication shouldn't.</a:t>
            </a:r>
            <a:endParaRPr lang="en-US" sz="1600" i="1" kern="100" dirty="0">
              <a:effectLst/>
              <a:latin typeface="+mj-lt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836FAC-9613-4E02-6A00-39C1954EF2D9}"/>
              </a:ext>
            </a:extLst>
          </p:cNvPr>
          <p:cNvSpPr txBox="1"/>
          <p:nvPr/>
        </p:nvSpPr>
        <p:spPr>
          <a:xfrm>
            <a:off x="1139132" y="3095801"/>
            <a:ext cx="9913735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sz="2000" b="1" i="0" dirty="0">
                <a:solidFill>
                  <a:schemeClr val="tx1"/>
                </a:solidFill>
                <a:effectLst/>
                <a:latin typeface="+mj-lt"/>
              </a:rPr>
              <a:t>Problem </a:t>
            </a:r>
            <a:r>
              <a:rPr lang="en-US" sz="2000" b="1" dirty="0">
                <a:latin typeface="+mj-lt"/>
              </a:rPr>
              <a:t>Statement: </a:t>
            </a:r>
            <a:r>
              <a:rPr lang="en-US" sz="2000" dirty="0">
                <a:latin typeface="+mj-lt"/>
              </a:rPr>
              <a:t>Offline by Default</a:t>
            </a:r>
            <a:endParaRPr lang="en-US" sz="2000" i="0" dirty="0">
              <a:solidFill>
                <a:schemeClr val="tx1"/>
              </a:solidFill>
              <a:effectLst/>
              <a:latin typeface="+mj-lt"/>
            </a:endParaRPr>
          </a:p>
          <a:p>
            <a:pPr marR="0" lvl="0" algn="l">
              <a:lnSpc>
                <a:spcPct val="100000"/>
              </a:lnSpc>
              <a:spcAft>
                <a:spcPts val="600"/>
              </a:spcAft>
            </a:pPr>
            <a:r>
              <a:rPr lang="en-US" b="0" i="0" dirty="0">
                <a:solidFill>
                  <a:schemeClr val="tx1"/>
                </a:solidFill>
                <a:effectLst/>
                <a:latin typeface="+mj-lt"/>
              </a:rPr>
              <a:t>Build resilient solutions that remain secure, accessible, and functional even without reliable internet connectivity.</a:t>
            </a:r>
            <a:endParaRPr lang="en-US" sz="1050" b="0" i="0" dirty="0">
              <a:solidFill>
                <a:srgbClr val="383838"/>
              </a:solidFill>
              <a:effectLst/>
              <a:latin typeface="+mj-lt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C63CCAB-7FB3-218C-C5E1-4B577A3ED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75614"/>
              </p:ext>
            </p:extLst>
          </p:nvPr>
        </p:nvGraphicFramePr>
        <p:xfrm>
          <a:off x="1441029" y="4993379"/>
          <a:ext cx="5102011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731">
                  <a:extLst>
                    <a:ext uri="{9D8B030D-6E8A-4147-A177-3AD203B41FA5}">
                      <a16:colId xmlns:a16="http://schemas.microsoft.com/office/drawing/2014/main" val="2944018874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46245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Pratik Das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Lakshya Bhivgade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914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M. Rajesh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Harshavarshan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4551451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261D320-E94A-5775-DC26-B1C434428D76}"/>
              </a:ext>
            </a:extLst>
          </p:cNvPr>
          <p:cNvSpPr txBox="1"/>
          <p:nvPr/>
        </p:nvSpPr>
        <p:spPr>
          <a:xfrm>
            <a:off x="1441029" y="4593269"/>
            <a:ext cx="1526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latin typeface="+mj-lt"/>
              </a:rPr>
              <a:t>NEXUS</a:t>
            </a:r>
            <a:endParaRPr lang="en-US" sz="2000" b="1" i="0" dirty="0">
              <a:effectLst/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91F684-1712-21D4-BDB1-C1405D47A38D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3576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7D82F-4B23-7E0D-D8BB-898B97883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B0605-BBAA-96DE-1014-5EA07EDAF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172" y="496935"/>
            <a:ext cx="5264351" cy="533805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Neue Haas Grotesk Text Pro (Headings)"/>
              </a:rPr>
              <a:t>01. Problem Understanding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D1593-4E4F-ED91-5E91-0B6B1CFD5C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5531" y="1224521"/>
            <a:ext cx="10620938" cy="3416303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/>
              <a:t>Disasters can break internet and cellular connectivity when communication is most critical.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/>
              <a:t>Citizens may be unable to report emergencies, share location, request help or find resources.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/>
              <a:t>Offline messaging enables communication, but does not provide structured emergency intelligence.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800" dirty="0"/>
              <a:t>Responders need location, urgency, affected people and status — not scattered conversations.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/>
              <a:t>The real gap is offline emergency coordination — not just offline messaging.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26CB3-EA68-EBCB-1C1A-78C76ED8F723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BB38C-7E5B-361C-E54E-C8A053842587}"/>
              </a:ext>
            </a:extLst>
          </p:cNvPr>
          <p:cNvSpPr txBox="1"/>
          <p:nvPr/>
        </p:nvSpPr>
        <p:spPr>
          <a:xfrm>
            <a:off x="785531" y="4834605"/>
            <a:ext cx="10620938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Problem Gap:</a:t>
            </a:r>
            <a:r>
              <a:rPr lang="en-US" sz="2000" dirty="0"/>
              <a:t> Emergency information becomes </a:t>
            </a:r>
            <a:r>
              <a:rPr lang="en-US" sz="2000" b="1" dirty="0"/>
              <a:t>fragmented, delayed, duplicated, and difficult to prioritize.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80300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BF7-7F8F-1AA9-0973-79EF3AF97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55A07-4791-A775-3191-4963501B8F94}"/>
              </a:ext>
            </a:extLst>
          </p:cNvPr>
          <p:cNvSpPr txBox="1">
            <a:spLocks/>
          </p:cNvSpPr>
          <p:nvPr/>
        </p:nvSpPr>
        <p:spPr>
          <a:xfrm>
            <a:off x="625172" y="496935"/>
            <a:ext cx="5264351" cy="5338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02. Proposed Solution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C1F1C2-46D8-F24D-2A43-5032E128B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5530" y="1224520"/>
            <a:ext cx="7139269" cy="5067751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	Offline-first emergency coordination for network-disrupted environments, using autonomous nearby peer-to-peer relay.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800" b="1" dirty="0"/>
              <a:t>Structured Reports</a:t>
            </a:r>
          </a:p>
          <a:p>
            <a:r>
              <a:rPr lang="en-US" sz="1800" dirty="0"/>
              <a:t>Type • Location • Priority • People • Status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800" b="1" dirty="0"/>
              <a:t>Offline Storage</a:t>
            </a:r>
          </a:p>
          <a:p>
            <a:r>
              <a:rPr lang="en-US" sz="1800" dirty="0"/>
              <a:t>Incidents persist locally and remain queued without internet.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800" b="1" dirty="0"/>
              <a:t>Autonomous Multi-Peer Relay</a:t>
            </a:r>
          </a:p>
          <a:p>
            <a:r>
              <a:rPr lang="en-US" sz="1800" dirty="0"/>
              <a:t>Queued incidents are automatically exchanged with nearby peers using the available transport</a:t>
            </a:r>
            <a:r>
              <a:rPr lang="en-US" sz="1800" b="1" dirty="0"/>
              <a:t>.</a:t>
            </a: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800" b="1" dirty="0"/>
              <a:t>Responder Sync</a:t>
            </a:r>
          </a:p>
          <a:p>
            <a:r>
              <a:rPr lang="en-US" sz="1800" dirty="0"/>
              <a:t>Queued incidents synchronize with the responder system when connectivity returns.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D24FDF-70C7-B7F5-8B48-6C352E91E85A}"/>
              </a:ext>
            </a:extLst>
          </p:cNvPr>
          <p:cNvSpPr/>
          <p:nvPr/>
        </p:nvSpPr>
        <p:spPr>
          <a:xfrm>
            <a:off x="9080091" y="558506"/>
            <a:ext cx="1671484" cy="48454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CAPTURE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5DE907A-F947-B802-D4C2-19FEC133E483}"/>
              </a:ext>
            </a:extLst>
          </p:cNvPr>
          <p:cNvSpPr/>
          <p:nvPr/>
        </p:nvSpPr>
        <p:spPr>
          <a:xfrm>
            <a:off x="9080091" y="1525109"/>
            <a:ext cx="1671484" cy="48454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STORE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725152C-7470-AD7F-8608-EDA2430D8ED4}"/>
              </a:ext>
            </a:extLst>
          </p:cNvPr>
          <p:cNvSpPr/>
          <p:nvPr/>
        </p:nvSpPr>
        <p:spPr>
          <a:xfrm>
            <a:off x="9074682" y="4502297"/>
            <a:ext cx="1671484" cy="4962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SYNC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8A6085B-ADB8-7C2E-603B-B5CC06507AE3}"/>
              </a:ext>
            </a:extLst>
          </p:cNvPr>
          <p:cNvSpPr/>
          <p:nvPr/>
        </p:nvSpPr>
        <p:spPr>
          <a:xfrm>
            <a:off x="9081176" y="2493164"/>
            <a:ext cx="1671484" cy="4962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PRIORITIZE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C134ED1-EDC6-F908-783C-DBDE7416A9F9}"/>
              </a:ext>
            </a:extLst>
          </p:cNvPr>
          <p:cNvSpPr/>
          <p:nvPr/>
        </p:nvSpPr>
        <p:spPr>
          <a:xfrm>
            <a:off x="9081176" y="3517828"/>
            <a:ext cx="1671484" cy="48454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RELAY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824EA68-9F63-9508-71BA-6357F28C4B7B}"/>
              </a:ext>
            </a:extLst>
          </p:cNvPr>
          <p:cNvSpPr/>
          <p:nvPr/>
        </p:nvSpPr>
        <p:spPr>
          <a:xfrm>
            <a:off x="9081176" y="5496236"/>
            <a:ext cx="1671484" cy="4962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RESPOND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A5DE24AD-2850-E777-A5AA-E02BA56E4DF7}"/>
              </a:ext>
            </a:extLst>
          </p:cNvPr>
          <p:cNvSpPr/>
          <p:nvPr/>
        </p:nvSpPr>
        <p:spPr>
          <a:xfrm>
            <a:off x="9802331" y="1043050"/>
            <a:ext cx="216187" cy="463024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F6A689EF-D006-157F-BE75-1A6ACE77E5DC}"/>
              </a:ext>
            </a:extLst>
          </p:cNvPr>
          <p:cNvSpPr/>
          <p:nvPr/>
        </p:nvSpPr>
        <p:spPr>
          <a:xfrm>
            <a:off x="9802331" y="2028690"/>
            <a:ext cx="216187" cy="463024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5EA718FB-D27D-6E1B-248A-FC7C3FE4856D}"/>
              </a:ext>
            </a:extLst>
          </p:cNvPr>
          <p:cNvSpPr/>
          <p:nvPr/>
        </p:nvSpPr>
        <p:spPr>
          <a:xfrm>
            <a:off x="9808824" y="3025048"/>
            <a:ext cx="216187" cy="463024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570D85FD-62DC-D216-8EBB-055E69837712}"/>
              </a:ext>
            </a:extLst>
          </p:cNvPr>
          <p:cNvSpPr/>
          <p:nvPr/>
        </p:nvSpPr>
        <p:spPr>
          <a:xfrm>
            <a:off x="9808823" y="4008948"/>
            <a:ext cx="216187" cy="463024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310B410F-D1C8-46BB-218A-29C9F6EB8464}"/>
              </a:ext>
            </a:extLst>
          </p:cNvPr>
          <p:cNvSpPr/>
          <p:nvPr/>
        </p:nvSpPr>
        <p:spPr>
          <a:xfrm>
            <a:off x="9808822" y="5005876"/>
            <a:ext cx="216187" cy="463024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4E2653-AD62-9B5F-64A3-939B7D2059AD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94021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56730-3442-1DA6-7628-7DE46B3BA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405D-88C6-1571-54D2-1ACB1F32D7D4}"/>
              </a:ext>
            </a:extLst>
          </p:cNvPr>
          <p:cNvSpPr txBox="1">
            <a:spLocks/>
          </p:cNvSpPr>
          <p:nvPr/>
        </p:nvSpPr>
        <p:spPr>
          <a:xfrm>
            <a:off x="625172" y="149883"/>
            <a:ext cx="11130194" cy="115540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03. Innovation</a:t>
            </a:r>
          </a:p>
          <a:p>
            <a:r>
              <a:rPr lang="en-US" sz="1800" i="1" dirty="0"/>
              <a:t>Structured emergency coordination, not offline chat</a:t>
            </a:r>
            <a:r>
              <a:rPr lang="en-US" sz="3200" dirty="0"/>
              <a:t>.</a:t>
            </a:r>
            <a:endParaRPr lang="en-US" sz="3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15A016-FFDC-ED37-27E5-788697597E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5049" y="1188321"/>
            <a:ext cx="10501902" cy="5307075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Structured Emergency Intelligence</a:t>
            </a:r>
            <a:br>
              <a:rPr lang="en-US" sz="1800" dirty="0"/>
            </a:br>
            <a:r>
              <a:rPr lang="en-US" sz="1800" dirty="0"/>
              <a:t>Type, location, priority, people affected and status in every incident.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Priority-Based Propagation</a:t>
            </a:r>
            <a:br>
              <a:rPr lang="en-US" sz="1800" dirty="0"/>
            </a:br>
            <a:r>
              <a:rPr lang="en-US" sz="1800" dirty="0"/>
              <a:t>Critical incidents are prioritized for propagation before routine updates.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Autonomous Multi-Peer Relay</a:t>
            </a:r>
            <a:br>
              <a:rPr lang="en-US" sz="1800" dirty="0"/>
            </a:br>
            <a:r>
              <a:rPr lang="en-US" sz="1800" dirty="0"/>
              <a:t>Incidents automatically propagate across dynamically connected nearby peers without manual connection actions.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Responder-Centric Aggregation</a:t>
            </a:r>
            <a:br>
              <a:rPr lang="en-US" sz="1800" dirty="0"/>
            </a:br>
            <a:r>
              <a:rPr lang="en-US" sz="1800" dirty="0"/>
              <a:t>Relayed incidents converge into a prioritized incident view for responders.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Store-Carry-Forward</a:t>
            </a:r>
            <a:br>
              <a:rPr lang="en-US" sz="1800" dirty="0"/>
            </a:br>
            <a:r>
              <a:rPr lang="en-US" sz="1800" dirty="0"/>
              <a:t>Incidents remain queued locally until a suitable peer or responder becomes reachable.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Transport-Agnostic Mesh</a:t>
            </a:r>
          </a:p>
          <a:p>
            <a:r>
              <a:rPr lang="en-US" sz="1800" b="1" dirty="0"/>
              <a:t>     </a:t>
            </a:r>
            <a:r>
              <a:rPr lang="en-US" sz="1800" dirty="0"/>
              <a:t>The same relay engine works across Native Nearby, WebRTC and WebSocket transports.</a:t>
            </a:r>
            <a:endParaRPr lang="en-US" sz="18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27033-D5C8-D188-4E8F-2EEC3722913A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1466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109D3-3002-89B2-27E5-85A39FBD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96D28-625B-91B3-748A-1D02A42BAC45}"/>
              </a:ext>
            </a:extLst>
          </p:cNvPr>
          <p:cNvSpPr txBox="1">
            <a:spLocks/>
          </p:cNvSpPr>
          <p:nvPr/>
        </p:nvSpPr>
        <p:spPr>
          <a:xfrm>
            <a:off x="555724" y="242397"/>
            <a:ext cx="5264351" cy="5338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04. Methodology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887651-C6DA-F220-BD71-1C3F9850C3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182" y="700197"/>
            <a:ext cx="6008560" cy="6157803"/>
          </a:xfrm>
        </p:spPr>
        <p:txBody>
          <a:bodyPr>
            <a:normAutofit/>
          </a:bodyPr>
          <a:lstStyle/>
          <a:p>
            <a:r>
              <a:rPr lang="en-US" sz="1800" dirty="0"/>
              <a:t>Emergency incidents are captured and stored locally, then autonomously relayed across nearby peers until they can reach responders.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CAPTURE</a:t>
            </a:r>
            <a:br>
              <a:rPr lang="en-US" sz="1800" dirty="0"/>
            </a:br>
            <a:r>
              <a:rPr lang="en-US" sz="1800" dirty="0"/>
              <a:t>Structured incident report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VALIDATE</a:t>
            </a:r>
            <a:br>
              <a:rPr lang="en-US" sz="1800" dirty="0"/>
            </a:br>
            <a:r>
              <a:rPr lang="en-US" sz="1800" dirty="0"/>
              <a:t>Verify incident structure and integrity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PRIORITIZE</a:t>
            </a:r>
            <a:br>
              <a:rPr lang="en-US" sz="1800" dirty="0"/>
            </a:br>
            <a:r>
              <a:rPr lang="en-US" sz="1800" dirty="0"/>
              <a:t>Severity-based queue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STORE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Persist locally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RELAY</a:t>
            </a:r>
            <a:br>
              <a:rPr lang="en-US" sz="1800" dirty="0"/>
            </a:br>
            <a:r>
              <a:rPr lang="en-US" sz="1800" dirty="0"/>
              <a:t>Autonomous nearby peer exchange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SYNC</a:t>
            </a:r>
            <a:br>
              <a:rPr lang="en-US" sz="1800" dirty="0"/>
            </a:br>
            <a:r>
              <a:rPr lang="en-US" sz="1800" dirty="0"/>
              <a:t>Synchronize when connectivity returns</a:t>
            </a:r>
          </a:p>
          <a:p>
            <a:pPr lvl="2">
              <a:lnSpc>
                <a:spcPct val="110000"/>
              </a:lnSpc>
            </a:pPr>
            <a:r>
              <a:rPr lang="en-US" sz="1800" b="1" dirty="0"/>
              <a:t>RESPOND</a:t>
            </a:r>
            <a:br>
              <a:rPr lang="en-US" sz="1800" dirty="0"/>
            </a:br>
            <a:r>
              <a:rPr lang="en-US" sz="1800" dirty="0"/>
              <a:t>Verify → Assign → Resolve</a:t>
            </a:r>
          </a:p>
          <a:p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36D7F5-99EF-7AF6-AB0B-C3074E021AE8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1B0DC6-7EB9-6D59-C92D-F1197AEAE2ED}"/>
              </a:ext>
            </a:extLst>
          </p:cNvPr>
          <p:cNvSpPr txBox="1"/>
          <p:nvPr/>
        </p:nvSpPr>
        <p:spPr>
          <a:xfrm>
            <a:off x="5202418" y="2164990"/>
            <a:ext cx="3411793" cy="286232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u="sng" dirty="0"/>
              <a:t>SAMPLE INCIDENT REPORT</a:t>
            </a:r>
          </a:p>
          <a:p>
            <a:r>
              <a:rPr lang="en-US" b="1" dirty="0"/>
              <a:t>NX-1042</a:t>
            </a:r>
            <a:br>
              <a:rPr lang="en-US" dirty="0"/>
            </a:br>
            <a:r>
              <a:rPr lang="en-US" b="1" dirty="0"/>
              <a:t>Medical Emergency</a:t>
            </a:r>
            <a:endParaRPr lang="en-US" dirty="0"/>
          </a:p>
          <a:p>
            <a:r>
              <a:rPr lang="en-US" b="1" dirty="0"/>
              <a:t>Priority:</a:t>
            </a:r>
            <a:r>
              <a:rPr lang="en-US" dirty="0"/>
              <a:t> P0 — Critical</a:t>
            </a:r>
            <a:br>
              <a:rPr lang="en-US" dirty="0"/>
            </a:br>
            <a:r>
              <a:rPr lang="en-US" b="1" dirty="0"/>
              <a:t>People:</a:t>
            </a:r>
            <a:r>
              <a:rPr lang="en-US" dirty="0"/>
              <a:t> 2</a:t>
            </a:r>
            <a:br>
              <a:rPr lang="en-US" dirty="0"/>
            </a:br>
            <a:r>
              <a:rPr lang="en-US" b="1" dirty="0"/>
              <a:t>Location:</a:t>
            </a:r>
            <a:r>
              <a:rPr lang="en-US" dirty="0"/>
              <a:t> 13.0827, 80.2707</a:t>
            </a:r>
            <a:br>
              <a:rPr lang="en-US" dirty="0"/>
            </a:br>
            <a:r>
              <a:rPr lang="en-US" b="1" dirty="0"/>
              <a:t>Time:</a:t>
            </a:r>
            <a:r>
              <a:rPr lang="en-US" dirty="0"/>
              <a:t> 10:42 AM</a:t>
            </a:r>
            <a:br>
              <a:rPr lang="en-US" dirty="0"/>
            </a:br>
            <a:r>
              <a:rPr lang="en-US" b="1" dirty="0"/>
              <a:t>Status:</a:t>
            </a:r>
            <a:r>
              <a:rPr lang="en-US" dirty="0"/>
              <a:t> Queued</a:t>
            </a:r>
            <a:br>
              <a:rPr lang="en-US" dirty="0"/>
            </a:br>
            <a:r>
              <a:rPr lang="en-US" b="1" dirty="0"/>
              <a:t>Need:</a:t>
            </a:r>
            <a:r>
              <a:rPr lang="en-US" dirty="0"/>
              <a:t> Immediate medical assistance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356FD1-1753-49D0-CDF1-651683758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137" y="0"/>
            <a:ext cx="4332799" cy="6499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FADEE-9AAB-E1C4-6227-20557D48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8AB6B-DD1D-6476-43F2-B8FB744563FB}"/>
              </a:ext>
            </a:extLst>
          </p:cNvPr>
          <p:cNvSpPr txBox="1">
            <a:spLocks/>
          </p:cNvSpPr>
          <p:nvPr/>
        </p:nvSpPr>
        <p:spPr>
          <a:xfrm>
            <a:off x="625172" y="122903"/>
            <a:ext cx="6008560" cy="9078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05. Implementation Approach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99100E-8C4F-9AA7-2D93-B0765B915A7E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20D7F62-0CED-7F48-CBB7-E76F992737EB}"/>
              </a:ext>
            </a:extLst>
          </p:cNvPr>
          <p:cNvSpPr/>
          <p:nvPr/>
        </p:nvSpPr>
        <p:spPr>
          <a:xfrm>
            <a:off x="433690" y="1723019"/>
            <a:ext cx="3302508" cy="386584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 dirty="0"/>
              <a:t>Emergency Report</a:t>
            </a:r>
          </a:p>
          <a:p>
            <a:r>
              <a:rPr lang="en-US" sz="1400" i="1" dirty="0"/>
              <a:t> </a:t>
            </a:r>
            <a:r>
              <a:rPr lang="en-US" sz="1600" i="1" dirty="0"/>
              <a:t>Type • Location • Priority • People • Status</a:t>
            </a:r>
            <a:endParaRPr lang="en-US" sz="1600" b="1" i="1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 dirty="0"/>
              <a:t>Location Capture</a:t>
            </a:r>
          </a:p>
          <a:p>
            <a:r>
              <a:rPr lang="en-US" sz="1600" i="1" dirty="0"/>
              <a:t>Geolocation API + Manual Fallback</a:t>
            </a:r>
            <a:endParaRPr lang="en-US" sz="1600" b="1" i="1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 dirty="0"/>
              <a:t>Status Tracking</a:t>
            </a:r>
          </a:p>
          <a:p>
            <a:r>
              <a:rPr lang="en-US" sz="1600" i="1" dirty="0"/>
              <a:t>Reported → Queued → Relayed → Synced → Verified → Assigned → Resolved</a:t>
            </a:r>
          </a:p>
          <a:p>
            <a:endParaRPr lang="en-US" sz="2000" b="1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44AA66F-418A-32F9-9A13-9C19C8955C6C}"/>
              </a:ext>
            </a:extLst>
          </p:cNvPr>
          <p:cNvSpPr/>
          <p:nvPr/>
        </p:nvSpPr>
        <p:spPr>
          <a:xfrm>
            <a:off x="4401937" y="1723020"/>
            <a:ext cx="3302508" cy="4712504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i="1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0761AB6D-7B4B-93BA-D2C0-A9F491509D50}"/>
              </a:ext>
            </a:extLst>
          </p:cNvPr>
          <p:cNvSpPr txBox="1">
            <a:spLocks/>
          </p:cNvSpPr>
          <p:nvPr/>
        </p:nvSpPr>
        <p:spPr>
          <a:xfrm>
            <a:off x="847225" y="1219127"/>
            <a:ext cx="2567361" cy="4946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/>
              <a:t>Application Layer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78302B8B-2EDA-F3C5-5CCB-7109EB74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99" y="1902119"/>
            <a:ext cx="832599" cy="92291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C12C1904-24BB-75D1-84B8-251FCA847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20" y="1952403"/>
            <a:ext cx="638897" cy="822343"/>
          </a:xfrm>
          <a:prstGeom prst="rect">
            <a:avLst/>
          </a:prstGeom>
        </p:spPr>
      </p:pic>
      <p:sp>
        <p:nvSpPr>
          <p:cNvPr id="46" name="Title 1">
            <a:extLst>
              <a:ext uri="{FF2B5EF4-FFF2-40B4-BE49-F238E27FC236}">
                <a16:creationId xmlns:a16="http://schemas.microsoft.com/office/drawing/2014/main" id="{775EE77D-D3E5-8466-8F2F-B5E019DFF863}"/>
              </a:ext>
            </a:extLst>
          </p:cNvPr>
          <p:cNvSpPr txBox="1">
            <a:spLocks/>
          </p:cNvSpPr>
          <p:nvPr/>
        </p:nvSpPr>
        <p:spPr>
          <a:xfrm>
            <a:off x="4527442" y="1099106"/>
            <a:ext cx="3302508" cy="62391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/>
              <a:t>Offline Core &amp; Peer Relay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49DF1E2-E612-81BF-7AFB-794B3FDDA1F8}"/>
              </a:ext>
            </a:extLst>
          </p:cNvPr>
          <p:cNvSpPr/>
          <p:nvPr/>
        </p:nvSpPr>
        <p:spPr>
          <a:xfrm>
            <a:off x="8402477" y="1780839"/>
            <a:ext cx="3302508" cy="3762941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r>
              <a:rPr lang="en-US" dirty="0"/>
              <a:t>Cloud Sync</a:t>
            </a:r>
          </a:p>
          <a:p>
            <a:r>
              <a:rPr lang="en-US" sz="1600" i="1" dirty="0"/>
              <a:t>Synchronize queued incidents when connectivity returns</a:t>
            </a:r>
            <a:endParaRPr lang="en-US" i="1" dirty="0"/>
          </a:p>
          <a:p>
            <a:r>
              <a:rPr lang="en-US" dirty="0"/>
              <a:t>Responder Dashboard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r>
              <a:rPr lang="en-US" dirty="0"/>
              <a:t>Priority Queue</a:t>
            </a:r>
            <a:br>
              <a:rPr lang="en-US" dirty="0"/>
            </a:br>
            <a:r>
              <a:rPr lang="en-US" sz="1600" i="1" dirty="0"/>
              <a:t>Verify → Assign → Resolve</a:t>
            </a:r>
          </a:p>
          <a:p>
            <a:pPr algn="ctr"/>
            <a:endParaRPr lang="en-US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2CBC6AB6-1F30-AE84-EF0B-14331B6CE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6532" y="4026195"/>
            <a:ext cx="1580885" cy="512387"/>
          </a:xfrm>
          <a:prstGeom prst="rect">
            <a:avLst/>
          </a:prstGeom>
        </p:spPr>
      </p:pic>
      <p:sp>
        <p:nvSpPr>
          <p:cNvPr id="74" name="Title 1">
            <a:extLst>
              <a:ext uri="{FF2B5EF4-FFF2-40B4-BE49-F238E27FC236}">
                <a16:creationId xmlns:a16="http://schemas.microsoft.com/office/drawing/2014/main" id="{22DB720B-BB8D-EB74-F996-74D3C9D77FE0}"/>
              </a:ext>
            </a:extLst>
          </p:cNvPr>
          <p:cNvSpPr txBox="1">
            <a:spLocks/>
          </p:cNvSpPr>
          <p:nvPr/>
        </p:nvSpPr>
        <p:spPr>
          <a:xfrm>
            <a:off x="8495689" y="1211317"/>
            <a:ext cx="3116085" cy="51662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/>
              <a:t>Sync &amp; Response Layer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CD06EA9-356C-0ACD-5CCF-1AD638DC4D0E}"/>
              </a:ext>
            </a:extLst>
          </p:cNvPr>
          <p:cNvSpPr/>
          <p:nvPr/>
        </p:nvSpPr>
        <p:spPr>
          <a:xfrm>
            <a:off x="8832065" y="2146474"/>
            <a:ext cx="2587775" cy="56135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   Firebase </a:t>
            </a:r>
            <a:r>
              <a:rPr lang="en-US" dirty="0" err="1"/>
              <a:t>Firestore</a:t>
            </a:r>
            <a:r>
              <a:rPr lang="en-US" dirty="0"/>
              <a:t> 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76EF03E3-B20B-59CD-38BD-BFE2DA4831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401" t="11316" r="14105"/>
          <a:stretch>
            <a:fillRect/>
          </a:stretch>
        </p:blipFill>
        <p:spPr>
          <a:xfrm>
            <a:off x="8832065" y="2170570"/>
            <a:ext cx="426387" cy="537259"/>
          </a:xfrm>
          <a:prstGeom prst="rect">
            <a:avLst/>
          </a:prstGeom>
        </p:spPr>
      </p:pic>
      <p:sp>
        <p:nvSpPr>
          <p:cNvPr id="101" name="Arrow: Right 100">
            <a:extLst>
              <a:ext uri="{FF2B5EF4-FFF2-40B4-BE49-F238E27FC236}">
                <a16:creationId xmlns:a16="http://schemas.microsoft.com/office/drawing/2014/main" id="{2B750C06-EE11-660A-2796-390033894EB0}"/>
              </a:ext>
            </a:extLst>
          </p:cNvPr>
          <p:cNvSpPr/>
          <p:nvPr/>
        </p:nvSpPr>
        <p:spPr>
          <a:xfrm>
            <a:off x="3752344" y="3429000"/>
            <a:ext cx="665739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03AD4214-8915-E76B-5742-52E3A4E1D7DB}"/>
              </a:ext>
            </a:extLst>
          </p:cNvPr>
          <p:cNvSpPr/>
          <p:nvPr/>
        </p:nvSpPr>
        <p:spPr>
          <a:xfrm>
            <a:off x="7736738" y="3391084"/>
            <a:ext cx="665739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FE396D-9DA8-EDDA-3FEA-C15E8B916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2705" y="2026480"/>
            <a:ext cx="1393602" cy="609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76DCFF-5139-AA04-EEC5-9CE92E0D5E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0" t="11907" r="11524"/>
          <a:stretch>
            <a:fillRect/>
          </a:stretch>
        </p:blipFill>
        <p:spPr>
          <a:xfrm>
            <a:off x="4074290" y="1952403"/>
            <a:ext cx="3970116" cy="448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21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9FDA4-C390-C632-D625-F14279F04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5F49585A-E43A-A2CE-9479-88E4D984ABB0}"/>
              </a:ext>
            </a:extLst>
          </p:cNvPr>
          <p:cNvSpPr txBox="1"/>
          <p:nvPr/>
        </p:nvSpPr>
        <p:spPr>
          <a:xfrm>
            <a:off x="128875" y="354963"/>
            <a:ext cx="6376253" cy="80021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 dirty="0"/>
              <a:t>06. Architecture Diagram</a:t>
            </a:r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13BA7F-B978-3CE5-A2AD-20C5718E0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602" y="840586"/>
            <a:ext cx="8842013" cy="58946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04459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CA074-2C51-C6C6-3025-45FEF05C3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F0EF2-7C52-15EA-8A78-7D7738392217}"/>
              </a:ext>
            </a:extLst>
          </p:cNvPr>
          <p:cNvSpPr txBox="1">
            <a:spLocks/>
          </p:cNvSpPr>
          <p:nvPr/>
        </p:nvSpPr>
        <p:spPr>
          <a:xfrm>
            <a:off x="625172" y="122903"/>
            <a:ext cx="6008560" cy="9078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07. Expected 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A7EA1-01E1-0ABF-F833-4E781BDE3E86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1179A79-C1C8-8EB8-7A42-8F038DF1F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419393"/>
              </p:ext>
            </p:extLst>
          </p:nvPr>
        </p:nvGraphicFramePr>
        <p:xfrm>
          <a:off x="799432" y="1271104"/>
          <a:ext cx="10593136" cy="480180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96568">
                  <a:extLst>
                    <a:ext uri="{9D8B030D-6E8A-4147-A177-3AD203B41FA5}">
                      <a16:colId xmlns:a16="http://schemas.microsoft.com/office/drawing/2014/main" val="2127410063"/>
                    </a:ext>
                  </a:extLst>
                </a:gridCol>
                <a:gridCol w="5296568">
                  <a:extLst>
                    <a:ext uri="{9D8B030D-6E8A-4147-A177-3AD203B41FA5}">
                      <a16:colId xmlns:a16="http://schemas.microsoft.com/office/drawing/2014/main" val="1233601693"/>
                    </a:ext>
                  </a:extLst>
                </a:gridCol>
              </a:tblGrid>
              <a:tr h="472441">
                <a:tc>
                  <a:txBody>
                    <a:bodyPr/>
                    <a:lstStyle/>
                    <a:p>
                      <a:pPr marL="342900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en-US" sz="2000" dirty="0"/>
                        <a:t>Faster Emergency Response</a:t>
                      </a:r>
                      <a:endParaRPr lang="en-US" sz="2000" dirty="0">
                        <a:latin typeface="Neue Haas Grotesk Text Pro (Body)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en-US" sz="2000" dirty="0"/>
                        <a:t>Better Situational Awareness</a:t>
                      </a:r>
                      <a:endParaRPr lang="en-US" sz="2000" dirty="0">
                        <a:latin typeface="Neue Haas Grotesk Text Pro (Body)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8539956"/>
                  </a:ext>
                </a:extLst>
              </a:tr>
              <a:tr h="791277"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          Critical incidents are prioritized for propagation before routine updates.</a:t>
                      </a:r>
                      <a:endParaRPr lang="en-US" sz="2000" dirty="0">
                        <a:latin typeface="Neue Haas Grotesk Text Pro (Body)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         Structured incidents show location, priority, people affected and status</a:t>
                      </a:r>
                      <a:r>
                        <a:rPr lang="en-US" sz="2000" b="0" dirty="0"/>
                        <a:t>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135271"/>
                  </a:ext>
                </a:extLst>
              </a:tr>
              <a:tr h="427923">
                <a:tc>
                  <a:txBody>
                    <a:bodyPr/>
                    <a:lstStyle/>
                    <a:p>
                      <a:pPr marL="342900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en-US" sz="2000" b="1" dirty="0"/>
                        <a:t>Resilient Community Communication</a:t>
                      </a:r>
                      <a:endParaRPr lang="en-US" sz="2000" b="1" dirty="0">
                        <a:latin typeface="Neue Haas Grotesk Text Pro (Body)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en-US" sz="2000" b="1" dirty="0"/>
                        <a:t>Efficient Resource Coordination</a:t>
                      </a:r>
                      <a:endParaRPr lang="en-US" sz="2000" b="1" dirty="0">
                        <a:latin typeface="Neue Haas Grotesk Text Pro (Body)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151262"/>
                  </a:ext>
                </a:extLst>
              </a:tr>
              <a:tr h="7912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           Incidents can be created, stored and relayed during connectivity loss.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         Coordinate shelters, food, water, medical needs and safety updates</a:t>
                      </a:r>
                      <a:r>
                        <a:rPr lang="en-US" sz="2000" b="0" dirty="0"/>
                        <a:t>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187983"/>
                  </a:ext>
                </a:extLst>
              </a:tr>
              <a:tr h="791277">
                <a:tc>
                  <a:txBody>
                    <a:bodyPr/>
                    <a:lstStyle/>
                    <a:p>
                      <a:pPr algn="r"/>
                      <a:endParaRPr lang="en-US" sz="2000" i="1" dirty="0"/>
                    </a:p>
                    <a:p>
                      <a:pPr algn="r"/>
                      <a:endParaRPr lang="en-US" sz="2000" i="1" dirty="0"/>
                    </a:p>
                    <a:p>
                      <a:pPr algn="r"/>
                      <a:r>
                        <a:rPr lang="en-US" sz="1800" dirty="0"/>
                        <a:t>From scattered messages to one prioritized</a:t>
                      </a:r>
                    </a:p>
                    <a:p>
                      <a:pPr algn="r"/>
                      <a:endParaRPr lang="en-US" sz="1800" i="1" dirty="0"/>
                    </a:p>
                    <a:p>
                      <a:pPr algn="r"/>
                      <a:endParaRPr lang="en-US" sz="1800" i="1" dirty="0"/>
                    </a:p>
                    <a:p>
                      <a:pPr algn="r"/>
                      <a:r>
                        <a:rPr lang="en-US" sz="2000" i="1" dirty="0"/>
                        <a:t>Floods • Cyclones • Rural Areas</a:t>
                      </a:r>
                      <a:endParaRPr lang="en-US" sz="2000" i="1" dirty="0">
                        <a:latin typeface="Neue Haas Grotesk Text Pro (Body)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endParaRPr lang="en-US" sz="2000" i="1" dirty="0"/>
                    </a:p>
                    <a:p>
                      <a:pPr algn="just"/>
                      <a:endParaRPr lang="en-US" sz="2000" i="1" dirty="0"/>
                    </a:p>
                    <a:p>
                      <a:r>
                        <a:rPr lang="en-US" sz="1800" b="0" dirty="0"/>
                        <a:t>emergency picture — even when connectivity fails</a:t>
                      </a:r>
                      <a:r>
                        <a:rPr lang="en-US" sz="2000" b="1" dirty="0"/>
                        <a:t>.</a:t>
                      </a:r>
                      <a:endParaRPr lang="en-US" sz="2000" dirty="0"/>
                    </a:p>
                    <a:p>
                      <a:pPr algn="just"/>
                      <a:endParaRPr lang="en-US" sz="2000" i="1" dirty="0"/>
                    </a:p>
                    <a:p>
                      <a:pPr algn="just"/>
                      <a:r>
                        <a:rPr lang="en-US" sz="2000" i="1" dirty="0"/>
                        <a:t>• Relief Camps • Campuses • Large Events</a:t>
                      </a:r>
                      <a:endParaRPr lang="en-US" sz="2000" i="1" dirty="0">
                        <a:latin typeface="Neue Haas Grotesk Text Pro (Body)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098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9044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B97CB-1768-907E-46FA-98ACF298C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11CB933-FA2F-8C2E-C1E7-15A01945F7E4}"/>
              </a:ext>
            </a:extLst>
          </p:cNvPr>
          <p:cNvSpPr txBox="1">
            <a:spLocks/>
          </p:cNvSpPr>
          <p:nvPr/>
        </p:nvSpPr>
        <p:spPr>
          <a:xfrm>
            <a:off x="625172" y="-89654"/>
            <a:ext cx="6008560" cy="9078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4800" b="0" kern="1200" spc="-11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08. MVP, Feasibility &amp; Viability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720921-8D4F-35B1-6132-86FC9FCB0AC9}"/>
              </a:ext>
            </a:extLst>
          </p:cNvPr>
          <p:cNvSpPr txBox="1"/>
          <p:nvPr/>
        </p:nvSpPr>
        <p:spPr>
          <a:xfrm>
            <a:off x="7188886" y="6304584"/>
            <a:ext cx="45664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spcAft>
                <a:spcPts val="600"/>
              </a:spcAft>
            </a:pPr>
            <a:r>
              <a:rPr lang="en-US" sz="1400" b="1" dirty="0">
                <a:latin typeface="+mj-lt"/>
              </a:rPr>
              <a:t>ANVESHAN'26 • 24 HR HACKATHON</a:t>
            </a:r>
            <a:endParaRPr lang="en-US" sz="1400" b="1" i="0" dirty="0">
              <a:effectLst/>
              <a:latin typeface="+mj-lt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3FC778F-0788-81A7-55DC-4BC2AE50A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521576"/>
              </p:ext>
            </p:extLst>
          </p:nvPr>
        </p:nvGraphicFramePr>
        <p:xfrm>
          <a:off x="929804" y="818184"/>
          <a:ext cx="10068231" cy="5486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6077">
                  <a:extLst>
                    <a:ext uri="{9D8B030D-6E8A-4147-A177-3AD203B41FA5}">
                      <a16:colId xmlns:a16="http://schemas.microsoft.com/office/drawing/2014/main" val="1297683001"/>
                    </a:ext>
                  </a:extLst>
                </a:gridCol>
                <a:gridCol w="3356077">
                  <a:extLst>
                    <a:ext uri="{9D8B030D-6E8A-4147-A177-3AD203B41FA5}">
                      <a16:colId xmlns:a16="http://schemas.microsoft.com/office/drawing/2014/main" val="259343516"/>
                    </a:ext>
                  </a:extLst>
                </a:gridCol>
                <a:gridCol w="3356077">
                  <a:extLst>
                    <a:ext uri="{9D8B030D-6E8A-4147-A177-3AD203B41FA5}">
                      <a16:colId xmlns:a16="http://schemas.microsoft.com/office/drawing/2014/main" val="1654073428"/>
                    </a:ext>
                  </a:extLst>
                </a:gridCol>
              </a:tblGrid>
              <a:tr h="32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MVP SCOPE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TECHNICAL FEASIBILITY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VIABILITY &amp; SCALABILITY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0505339"/>
                  </a:ext>
                </a:extLst>
              </a:tr>
              <a:tr h="821763">
                <a:tc>
                  <a:txBody>
                    <a:bodyPr/>
                    <a:lstStyle/>
                    <a:p>
                      <a:r>
                        <a:rPr lang="en-US" b="1" dirty="0"/>
                        <a:t>Offline-First Mobile App</a:t>
                      </a:r>
                      <a:r>
                        <a:rPr lang="en-US" dirty="0"/>
                        <a:t> — Emergency reporting + autonomous local operation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React + Vite + Capacitor</a:t>
                      </a:r>
                      <a:r>
                        <a:rPr lang="en-US" dirty="0"/>
                        <a:t> — Cross-platform UI + native Android container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Disaster Operations</a:t>
                      </a:r>
                      <a:r>
                        <a:rPr lang="en-US"/>
                        <a:t> — Floods, cyclones, outages, relief camps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1687560"/>
                  </a:ext>
                </a:extLst>
              </a:tr>
              <a:tr h="821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Structured Incidents</a:t>
                      </a:r>
                      <a:r>
                        <a:rPr lang="en-US" dirty="0"/>
                        <a:t> — Type, location, priority, people, 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IndexedDB</a:t>
                      </a:r>
                      <a:r>
                        <a:rPr lang="en-US" b="1" dirty="0"/>
                        <a:t> + Dexie.js</a:t>
                      </a:r>
                      <a:r>
                        <a:rPr lang="en-US" dirty="0"/>
                        <a:t> — Offline persistence + local queue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Community Coordination</a:t>
                      </a:r>
                      <a:r>
                        <a:rPr lang="en-US"/>
                        <a:t> — Resources, shelters, safety updates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809935"/>
                  </a:ext>
                </a:extLst>
              </a:tr>
              <a:tr h="821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Autonomous Peer Relay</a:t>
                      </a:r>
                      <a:r>
                        <a:rPr lang="en-US" dirty="0"/>
                        <a:t> — Nearby device-to-device communication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Google Nearby Connections</a:t>
                      </a:r>
                      <a:r>
                        <a:rPr lang="en-US" dirty="0"/>
                        <a:t> — Native Android peer discovery + P2P communication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Store-Carry-Forward</a:t>
                      </a:r>
                      <a:r>
                        <a:rPr lang="en-US" dirty="0"/>
                        <a:t> — Queue incidents until suitable peers become available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1274173"/>
                  </a:ext>
                </a:extLst>
              </a:tr>
              <a:tr h="821763">
                <a:tc>
                  <a:txBody>
                    <a:bodyPr/>
                    <a:lstStyle/>
                    <a:p>
                      <a:r>
                        <a:rPr lang="en-US" b="1" dirty="0"/>
                        <a:t>Priority &amp; Deduplication</a:t>
                      </a:r>
                      <a:r>
                        <a:rPr lang="en-US" dirty="0"/>
                        <a:t> — Critical-first + version-aware duplicate filtering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Firebase </a:t>
                      </a:r>
                      <a:r>
                        <a:rPr lang="en-US" b="1" dirty="0" err="1"/>
                        <a:t>Firestore</a:t>
                      </a:r>
                      <a:r>
                        <a:rPr lang="en-US" dirty="0"/>
                        <a:t> — Synchronization when connectivity returns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Transport Evolution</a:t>
                      </a:r>
                      <a:r>
                        <a:rPr lang="en-US" dirty="0"/>
                        <a:t> — Additional native transports through the transport abstraction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0153469"/>
                  </a:ext>
                </a:extLst>
              </a:tr>
              <a:tr h="821763">
                <a:tc>
                  <a:txBody>
                    <a:bodyPr/>
                    <a:lstStyle/>
                    <a:p>
                      <a:r>
                        <a:rPr lang="en-US" b="1" dirty="0"/>
                        <a:t>Responder Dashboard</a:t>
                      </a:r>
                      <a:r>
                        <a:rPr lang="en-US" dirty="0"/>
                        <a:t> — Map, priority, verification, assignment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Web Crypto API</a:t>
                      </a:r>
                      <a:r>
                        <a:rPr lang="en-US"/>
                        <a:t> — Integrity / security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Deployment Expansion</a:t>
                      </a:r>
                      <a:r>
                        <a:rPr lang="en-US" dirty="0"/>
                        <a:t> — Campuses, communities, emergency operations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21952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4230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CE2B9-44E5-6831-38F5-8DC8D0B63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7FC13A-0C1D-EC3E-C5DD-DD854DDEBE59}"/>
              </a:ext>
            </a:extLst>
          </p:cNvPr>
          <p:cNvSpPr txBox="1"/>
          <p:nvPr/>
        </p:nvSpPr>
        <p:spPr>
          <a:xfrm>
            <a:off x="2037347" y="2644170"/>
            <a:ext cx="81173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064640405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1247</TotalTime>
  <Words>787</Words>
  <Application>Microsoft Office PowerPoint</Application>
  <PresentationFormat>Widescreen</PresentationFormat>
  <Paragraphs>129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Arial</vt:lpstr>
      <vt:lpstr>Courier New</vt:lpstr>
      <vt:lpstr>Neue Haas Grotesk Text Pro</vt:lpstr>
      <vt:lpstr>Neue Haas Grotesk Text Pro (Body)</vt:lpstr>
      <vt:lpstr>Neue Haas Grotesk Text Pro (Headings)</vt:lpstr>
      <vt:lpstr>Wingdings</vt:lpstr>
      <vt:lpstr>Film Burn</vt:lpstr>
      <vt:lpstr>PowerPoint Presentation</vt:lpstr>
      <vt:lpstr>01. Problem Understanding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Pratik Das</dc:creator>
  <cp:lastModifiedBy>Pratik Das</cp:lastModifiedBy>
  <cp:revision>8</cp:revision>
  <dcterms:created xsi:type="dcterms:W3CDTF">2026-08-28T18:11:51Z</dcterms:created>
  <dcterms:modified xsi:type="dcterms:W3CDTF">2026-09-07T21:09:49Z</dcterms:modified>
</cp:coreProperties>
</file>