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5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C203D0-24C2-4898-BF4D-9D42BB7BC878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7D490F4-0160-47F0-BEC4-79A38D92DE2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041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C203D0-24C2-4898-BF4D-9D42BB7BC878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7D490F4-0160-47F0-BEC4-79A38D92DE2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9433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C203D0-24C2-4898-BF4D-9D42BB7BC878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7D490F4-0160-47F0-BEC4-79A38D92DE2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646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C203D0-24C2-4898-BF4D-9D42BB7BC878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7D490F4-0160-47F0-BEC4-79A38D92DE2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7503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C203D0-24C2-4898-BF4D-9D42BB7BC878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7D490F4-0160-47F0-BEC4-79A38D92DE2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005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C203D0-24C2-4898-BF4D-9D42BB7BC878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7D490F4-0160-47F0-BEC4-79A38D92DE2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790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C203D0-24C2-4898-BF4D-9D42BB7BC878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7D490F4-0160-47F0-BEC4-79A38D92DE2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584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C203D0-24C2-4898-BF4D-9D42BB7BC878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7D490F4-0160-47F0-BEC4-79A38D92DE2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828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C203D0-24C2-4898-BF4D-9D42BB7BC878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7D490F4-0160-47F0-BEC4-79A38D92DE2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324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AC203D0-24C2-4898-BF4D-9D42BB7BC878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E7D490F4-0160-47F0-BEC4-79A38D92DE2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99127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FAC203D0-24C2-4898-BF4D-9D42BB7BC878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E7D490F4-0160-47F0-BEC4-79A38D92DE2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268015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FAC203D0-24C2-4898-BF4D-9D42BB7BC878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7D490F4-0160-47F0-BEC4-79A38D92DE2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6733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AC203D0-24C2-4898-BF4D-9D42BB7BC878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E7D490F4-0160-47F0-BEC4-79A38D92DE2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3716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FAC203D0-24C2-4898-BF4D-9D42BB7BC878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E7D490F4-0160-47F0-BEC4-79A38D92DE2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865920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FAC203D0-24C2-4898-BF4D-9D42BB7BC878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E7D490F4-0160-47F0-BEC4-79A38D92DE2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9093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FAC203D0-24C2-4898-BF4D-9D42BB7BC878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7D490F4-0160-47F0-BEC4-79A38D92DE2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0670628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AC203D0-24C2-4898-BF4D-9D42BB7BC878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490F4-0160-47F0-BEC4-79A38D92DE2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4425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FAC203D0-24C2-4898-BF4D-9D42BB7BC878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E7D490F4-0160-47F0-BEC4-79A38D92DE2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2000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C203D0-24C2-4898-BF4D-9D42BB7BC878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7D490F4-0160-47F0-BEC4-79A38D92DE2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5106912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C203D0-24C2-4898-BF4D-9D42BB7BC878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7D490F4-0160-47F0-BEC4-79A38D92DE2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28871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C203D0-24C2-4898-BF4D-9D42BB7BC878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7D490F4-0160-47F0-BEC4-79A38D92DE2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1298808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C203D0-24C2-4898-BF4D-9D42BB7BC878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7D490F4-0160-47F0-BEC4-79A38D92DE2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211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C203D0-24C2-4898-BF4D-9D42BB7BC878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7D490F4-0160-47F0-BEC4-79A38D92DE2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0861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C203D0-24C2-4898-BF4D-9D42BB7BC878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7D490F4-0160-47F0-BEC4-79A38D92DE2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4143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C203D0-24C2-4898-BF4D-9D42BB7BC878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7D490F4-0160-47F0-BEC4-79A38D92DE2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7426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C203D0-24C2-4898-BF4D-9D42BB7BC878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7D490F4-0160-47F0-BEC4-79A38D92DE2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52913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C203D0-24C2-4898-BF4D-9D42BB7BC878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7D490F4-0160-47F0-BEC4-79A38D92DE2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4638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FAC203D0-24C2-4898-BF4D-9D42BB7BC878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E7D490F4-0160-47F0-BEC4-79A38D92DE2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2090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  <p:sldLayoutId id="2147483867" r:id="rId12"/>
    <p:sldLayoutId id="2147483868" r:id="rId13"/>
    <p:sldLayoutId id="2147483869" r:id="rId14"/>
    <p:sldLayoutId id="2147483870" r:id="rId15"/>
    <p:sldLayoutId id="2147483871" r:id="rId16"/>
    <p:sldLayoutId id="2147483872" r:id="rId17"/>
    <p:sldLayoutId id="2147483873" r:id="rId18"/>
    <p:sldLayoutId id="2147483874" r:id="rId19"/>
    <p:sldLayoutId id="2147483875" r:id="rId20"/>
    <p:sldLayoutId id="2147483876" r:id="rId21"/>
    <p:sldLayoutId id="2147483877" r:id="rId22"/>
    <p:sldLayoutId id="2147483878" r:id="rId23"/>
    <p:sldLayoutId id="2147483879" r:id="rId24"/>
    <p:sldLayoutId id="2147483880" r:id="rId25"/>
    <p:sldLayoutId id="2147483881" r:id="rId26"/>
    <p:sldLayoutId id="2147483882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98BCCA3-DC0D-1662-A645-B9CC9EBCD8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2"/>
          <a:stretch>
            <a:fillRect/>
          </a:stretch>
        </p:blipFill>
        <p:spPr>
          <a:xfrm>
            <a:off x="436635" y="184084"/>
            <a:ext cx="3148128" cy="11432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C1493F-9DFB-EE1E-2875-15AF21B69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4241" y="184084"/>
            <a:ext cx="3291124" cy="11432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8AB4B0E-2B8B-26EA-84F5-5FE1BBBA2C18}"/>
              </a:ext>
            </a:extLst>
          </p:cNvPr>
          <p:cNvSpPr txBox="1"/>
          <p:nvPr/>
        </p:nvSpPr>
        <p:spPr>
          <a:xfrm>
            <a:off x="1297858" y="1710814"/>
            <a:ext cx="9596284" cy="964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Offline-First Emergency &amp; Community Network</a:t>
            </a:r>
          </a:p>
          <a:p>
            <a:pPr algn="ctr">
              <a:spcAft>
                <a:spcPts val="800"/>
              </a:spcAft>
            </a:pPr>
            <a:r>
              <a:rPr lang="en-US" sz="1600" i="1" dirty="0">
                <a:latin typeface="+mj-lt"/>
              </a:rPr>
              <a:t>When the network fails, critical communication shouldn't.</a:t>
            </a:r>
            <a:endParaRPr lang="en-US" sz="1600" i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836FAC-9613-4E02-6A00-39C1954EF2D9}"/>
              </a:ext>
            </a:extLst>
          </p:cNvPr>
          <p:cNvSpPr txBox="1"/>
          <p:nvPr/>
        </p:nvSpPr>
        <p:spPr>
          <a:xfrm>
            <a:off x="1139132" y="3095801"/>
            <a:ext cx="9913735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</a:pPr>
            <a:r>
              <a:rPr lang="en-US" sz="2000" b="1" i="0" dirty="0">
                <a:solidFill>
                  <a:schemeClr val="tx1"/>
                </a:solidFill>
                <a:effectLst/>
                <a:latin typeface="+mj-lt"/>
              </a:rPr>
              <a:t>Problem </a:t>
            </a:r>
            <a:r>
              <a:rPr lang="en-US" sz="2000" b="1" dirty="0">
                <a:latin typeface="+mj-lt"/>
              </a:rPr>
              <a:t>Statement: </a:t>
            </a:r>
            <a:r>
              <a:rPr lang="en-US" sz="2000" dirty="0">
                <a:latin typeface="+mj-lt"/>
              </a:rPr>
              <a:t>Offline by Default</a:t>
            </a:r>
            <a:endParaRPr lang="en-US" sz="2000" i="0" dirty="0">
              <a:solidFill>
                <a:schemeClr val="tx1"/>
              </a:solidFill>
              <a:effectLst/>
              <a:latin typeface="+mj-lt"/>
            </a:endParaRPr>
          </a:p>
          <a:p>
            <a:pPr marR="0" lvl="0" algn="l">
              <a:lnSpc>
                <a:spcPct val="100000"/>
              </a:lnSpc>
              <a:spcAft>
                <a:spcPts val="600"/>
              </a:spcAft>
            </a:pPr>
            <a:r>
              <a:rPr lang="en-US" b="0" i="0" dirty="0">
                <a:solidFill>
                  <a:schemeClr val="tx1"/>
                </a:solidFill>
                <a:effectLst/>
                <a:latin typeface="+mj-lt"/>
              </a:rPr>
              <a:t>Build resilient solutions that remain secure, accessible, and functional even without reliable internet connectivity.</a:t>
            </a:r>
            <a:endParaRPr lang="en-US" sz="1050" b="0" i="0" dirty="0">
              <a:solidFill>
                <a:srgbClr val="383838"/>
              </a:solidFill>
              <a:effectLst/>
              <a:latin typeface="+mj-lt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C63CCAB-7FB3-218C-C5E1-4B577A3ED3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675614"/>
              </p:ext>
            </p:extLst>
          </p:nvPr>
        </p:nvGraphicFramePr>
        <p:xfrm>
          <a:off x="1441029" y="4993379"/>
          <a:ext cx="5102011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731">
                  <a:extLst>
                    <a:ext uri="{9D8B030D-6E8A-4147-A177-3AD203B41FA5}">
                      <a16:colId xmlns:a16="http://schemas.microsoft.com/office/drawing/2014/main" val="2944018874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46245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Pratik Das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Lakshya Bhivgade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1914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M. Rajesh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Harshavarshan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551451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B261D320-E94A-5775-DC26-B1C434428D76}"/>
              </a:ext>
            </a:extLst>
          </p:cNvPr>
          <p:cNvSpPr txBox="1"/>
          <p:nvPr/>
        </p:nvSpPr>
        <p:spPr>
          <a:xfrm>
            <a:off x="1441029" y="4593269"/>
            <a:ext cx="1526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>
              <a:lnSpc>
                <a:spcPct val="100000"/>
              </a:lnSpc>
              <a:spcAft>
                <a:spcPts val="600"/>
              </a:spcAft>
            </a:pPr>
            <a:r>
              <a:rPr lang="en-US" sz="2000" b="1" dirty="0">
                <a:latin typeface="+mj-lt"/>
              </a:rPr>
              <a:t>NEXUS</a:t>
            </a:r>
            <a:endParaRPr lang="en-US" sz="2000" b="1" i="0" dirty="0">
              <a:effectLst/>
              <a:latin typeface="+mj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91F684-1712-21D4-BDB1-C1405D47A38D}"/>
              </a:ext>
            </a:extLst>
          </p:cNvPr>
          <p:cNvSpPr txBox="1"/>
          <p:nvPr/>
        </p:nvSpPr>
        <p:spPr>
          <a:xfrm>
            <a:off x="7188886" y="6304584"/>
            <a:ext cx="456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spcAft>
                <a:spcPts val="600"/>
              </a:spcAft>
            </a:pPr>
            <a:r>
              <a:rPr lang="en-US" sz="1400" b="1" dirty="0">
                <a:latin typeface="+mj-lt"/>
              </a:rPr>
              <a:t>ANVESHAN'26 • 24 HR HACKATHON</a:t>
            </a:r>
            <a:endParaRPr lang="en-US" sz="1400" b="1" i="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35760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7D82F-4B23-7E0D-D8BB-898B97883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B0605-BBAA-96DE-1014-5EA07EDAF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172" y="496935"/>
            <a:ext cx="5264351" cy="53380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Neue Haas Grotesk Text Pro (Headings)"/>
              </a:rPr>
              <a:t>01. Problem Understanding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AD1593-4E4F-ED91-5E91-0B6B1CFD5C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5531" y="1224521"/>
            <a:ext cx="10620938" cy="3416303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Disasters can break internet and cellular connectivity when communication is most critical.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Citizens may be unable to report emergencies, share location, request help or find resources.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Offline messaging enables communication, but does not provide structured emergency intelligence.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Responders need location, urgency, affected people and status — not scattered conversations.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The real gap is offline emergency coordination — not just offline messaging.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F26CB3-EA68-EBCB-1C1A-78C76ED8F723}"/>
              </a:ext>
            </a:extLst>
          </p:cNvPr>
          <p:cNvSpPr txBox="1"/>
          <p:nvPr/>
        </p:nvSpPr>
        <p:spPr>
          <a:xfrm>
            <a:off x="7188886" y="6304584"/>
            <a:ext cx="456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spcAft>
                <a:spcPts val="600"/>
              </a:spcAft>
            </a:pPr>
            <a:r>
              <a:rPr lang="en-US" sz="1400" b="1" dirty="0">
                <a:latin typeface="+mj-lt"/>
              </a:rPr>
              <a:t>ANVESHAN'26 • 24 HR HACKATHON</a:t>
            </a:r>
            <a:endParaRPr lang="en-US" sz="1400" b="1" i="0" dirty="0">
              <a:effectLst/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FBB38C-7E5B-361C-E54E-C8A053842587}"/>
              </a:ext>
            </a:extLst>
          </p:cNvPr>
          <p:cNvSpPr txBox="1"/>
          <p:nvPr/>
        </p:nvSpPr>
        <p:spPr>
          <a:xfrm>
            <a:off x="785531" y="4834605"/>
            <a:ext cx="10620938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/>
              <a:t>Problem Gap:</a:t>
            </a:r>
            <a:r>
              <a:rPr lang="en-US" sz="2000" dirty="0"/>
              <a:t> Emergency information becomes </a:t>
            </a:r>
            <a:r>
              <a:rPr lang="en-US" sz="2000" b="1" dirty="0"/>
              <a:t>fragmented, delayed, duplicated, and difficult to prioritize.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80300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66BF7-7F8F-1AA9-0973-79EF3AF97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55A07-4791-A775-3191-4963501B8F94}"/>
              </a:ext>
            </a:extLst>
          </p:cNvPr>
          <p:cNvSpPr txBox="1">
            <a:spLocks/>
          </p:cNvSpPr>
          <p:nvPr/>
        </p:nvSpPr>
        <p:spPr>
          <a:xfrm>
            <a:off x="625172" y="496935"/>
            <a:ext cx="5264351" cy="5338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800" b="0" kern="1200" spc="-11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02. Proposed 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C1F1C2-46D8-F24D-2A43-5032E128B6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5530" y="1224521"/>
            <a:ext cx="7139269" cy="4767960"/>
          </a:xfrm>
        </p:spPr>
        <p:txBody>
          <a:bodyPr>
            <a:normAutofit/>
          </a:bodyPr>
          <a:lstStyle/>
          <a:p>
            <a:r>
              <a:rPr lang="en-US" sz="1800" dirty="0"/>
              <a:t>	Offline-first emergency coordination for network-disrupted environments.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b="1" dirty="0"/>
              <a:t>Structured Reports</a:t>
            </a:r>
          </a:p>
          <a:p>
            <a:r>
              <a:rPr lang="en-US" sz="1800" dirty="0"/>
              <a:t>Type • Location • Urgency • People • Status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b="1" dirty="0"/>
              <a:t>Offline Storage</a:t>
            </a:r>
          </a:p>
          <a:p>
            <a:r>
              <a:rPr lang="en-US" sz="1800" dirty="0"/>
              <a:t>Reports persist locally without internet.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b="1" dirty="0"/>
              <a:t>Local Peer Relay</a:t>
            </a:r>
          </a:p>
          <a:p>
            <a:r>
              <a:rPr lang="en-US" sz="1800" dirty="0"/>
              <a:t>Exchange pending reports over an available local connection.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b="1" dirty="0"/>
              <a:t>Responder Sync</a:t>
            </a:r>
          </a:p>
          <a:p>
            <a:r>
              <a:rPr lang="en-US" sz="1800" dirty="0"/>
              <a:t>Queued reports sync when connectivity returns.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8D24FDF-70C7-B7F5-8B48-6C352E91E85A}"/>
              </a:ext>
            </a:extLst>
          </p:cNvPr>
          <p:cNvSpPr/>
          <p:nvPr/>
        </p:nvSpPr>
        <p:spPr>
          <a:xfrm>
            <a:off x="9080091" y="558506"/>
            <a:ext cx="1671484" cy="48454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CAPTURE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5DE907A-F947-B802-D4C2-19FEC133E483}"/>
              </a:ext>
            </a:extLst>
          </p:cNvPr>
          <p:cNvSpPr/>
          <p:nvPr/>
        </p:nvSpPr>
        <p:spPr>
          <a:xfrm>
            <a:off x="9080091" y="1525109"/>
            <a:ext cx="1671484" cy="48454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STORE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725152C-7470-AD7F-8608-EDA2430D8ED4}"/>
              </a:ext>
            </a:extLst>
          </p:cNvPr>
          <p:cNvSpPr/>
          <p:nvPr/>
        </p:nvSpPr>
        <p:spPr>
          <a:xfrm>
            <a:off x="9074682" y="4502297"/>
            <a:ext cx="1671484" cy="4962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SYNC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8A6085B-ADB8-7C2E-603B-B5CC06507AE3}"/>
              </a:ext>
            </a:extLst>
          </p:cNvPr>
          <p:cNvSpPr/>
          <p:nvPr/>
        </p:nvSpPr>
        <p:spPr>
          <a:xfrm>
            <a:off x="9081176" y="2493164"/>
            <a:ext cx="1671484" cy="49624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PRIORITIZE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C134ED1-EDC6-F908-783C-DBDE7416A9F9}"/>
              </a:ext>
            </a:extLst>
          </p:cNvPr>
          <p:cNvSpPr/>
          <p:nvPr/>
        </p:nvSpPr>
        <p:spPr>
          <a:xfrm>
            <a:off x="9081176" y="3517828"/>
            <a:ext cx="1671484" cy="48454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RELAY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824EA68-9F63-9508-71BA-6357F28C4B7B}"/>
              </a:ext>
            </a:extLst>
          </p:cNvPr>
          <p:cNvSpPr/>
          <p:nvPr/>
        </p:nvSpPr>
        <p:spPr>
          <a:xfrm>
            <a:off x="9081176" y="5496236"/>
            <a:ext cx="1671484" cy="4962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RESPOND</a:t>
            </a:r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A5DE24AD-2850-E777-A5AA-E02BA56E4DF7}"/>
              </a:ext>
            </a:extLst>
          </p:cNvPr>
          <p:cNvSpPr/>
          <p:nvPr/>
        </p:nvSpPr>
        <p:spPr>
          <a:xfrm>
            <a:off x="9802331" y="1043050"/>
            <a:ext cx="216187" cy="463024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F6A689EF-D006-157F-BE75-1A6ACE77E5DC}"/>
              </a:ext>
            </a:extLst>
          </p:cNvPr>
          <p:cNvSpPr/>
          <p:nvPr/>
        </p:nvSpPr>
        <p:spPr>
          <a:xfrm>
            <a:off x="9802331" y="2028690"/>
            <a:ext cx="216187" cy="463024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5EA718FB-D27D-6E1B-248A-FC7C3FE4856D}"/>
              </a:ext>
            </a:extLst>
          </p:cNvPr>
          <p:cNvSpPr/>
          <p:nvPr/>
        </p:nvSpPr>
        <p:spPr>
          <a:xfrm>
            <a:off x="9808824" y="3025048"/>
            <a:ext cx="216187" cy="463024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570D85FD-62DC-D216-8EBB-055E69837712}"/>
              </a:ext>
            </a:extLst>
          </p:cNvPr>
          <p:cNvSpPr/>
          <p:nvPr/>
        </p:nvSpPr>
        <p:spPr>
          <a:xfrm>
            <a:off x="9808823" y="4008948"/>
            <a:ext cx="216187" cy="463024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310B410F-D1C8-46BB-218A-29C9F6EB8464}"/>
              </a:ext>
            </a:extLst>
          </p:cNvPr>
          <p:cNvSpPr/>
          <p:nvPr/>
        </p:nvSpPr>
        <p:spPr>
          <a:xfrm>
            <a:off x="9808822" y="5005876"/>
            <a:ext cx="216187" cy="463024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4E2653-AD62-9B5F-64A3-939B7D2059AD}"/>
              </a:ext>
            </a:extLst>
          </p:cNvPr>
          <p:cNvSpPr txBox="1"/>
          <p:nvPr/>
        </p:nvSpPr>
        <p:spPr>
          <a:xfrm>
            <a:off x="7188886" y="6304584"/>
            <a:ext cx="456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spcAft>
                <a:spcPts val="600"/>
              </a:spcAft>
            </a:pPr>
            <a:r>
              <a:rPr lang="en-US" sz="1400" b="1" dirty="0">
                <a:latin typeface="+mj-lt"/>
              </a:rPr>
              <a:t>ANVESHAN'26 • 24 HR HACKATHON</a:t>
            </a:r>
            <a:endParaRPr lang="en-US" sz="1400" b="1" i="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94021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56730-3442-1DA6-7628-7DE46B3BA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9405D-88C6-1571-54D2-1ACB1F32D7D4}"/>
              </a:ext>
            </a:extLst>
          </p:cNvPr>
          <p:cNvSpPr txBox="1">
            <a:spLocks/>
          </p:cNvSpPr>
          <p:nvPr/>
        </p:nvSpPr>
        <p:spPr>
          <a:xfrm>
            <a:off x="625172" y="245639"/>
            <a:ext cx="11130194" cy="11554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800" b="0" kern="1200" spc="-11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03. Innovation</a:t>
            </a:r>
          </a:p>
          <a:p>
            <a:r>
              <a:rPr lang="en-US" sz="1800" i="1" dirty="0"/>
              <a:t>Structured emergency coordination, not offline chat</a:t>
            </a:r>
            <a:r>
              <a:rPr lang="en-US" sz="3200" dirty="0"/>
              <a:t>.</a:t>
            </a:r>
            <a:endParaRPr lang="en-US" sz="3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15A016-FFDC-ED37-27E5-788697597E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049" y="1459174"/>
            <a:ext cx="10501902" cy="4999298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/>
              <a:t>Structured Emergency Intelligence</a:t>
            </a:r>
            <a:br>
              <a:rPr lang="en-US" sz="1800" dirty="0"/>
            </a:br>
            <a:r>
              <a:rPr lang="en-US" sz="1800" dirty="0"/>
              <a:t>Type, location, urgency, people affected and status in every report.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/>
              <a:t>Priority-Based Propagation</a:t>
            </a:r>
            <a:br>
              <a:rPr lang="en-US" sz="1800" dirty="0"/>
            </a:br>
            <a:r>
              <a:rPr lang="en-US" sz="1800" dirty="0"/>
              <a:t>Critical incidents are propagated before routine updates.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/>
              <a:t>Opportunistic Multi-Hop Relay</a:t>
            </a:r>
            <a:br>
              <a:rPr lang="en-US" sz="1800" dirty="0"/>
            </a:br>
            <a:r>
              <a:rPr lang="en-US" sz="1800" dirty="0"/>
              <a:t>Reports move device-to-device whenever a local connection becomes available.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/>
              <a:t>Responder-Centric Aggregation</a:t>
            </a:r>
            <a:br>
              <a:rPr lang="en-US" sz="1800" dirty="0"/>
            </a:br>
            <a:r>
              <a:rPr lang="en-US" sz="1800" dirty="0"/>
              <a:t>Reports become one prioritized incident view for responders.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/>
              <a:t>Store-Carry-Forward</a:t>
            </a:r>
            <a:br>
              <a:rPr lang="en-US" sz="1800" dirty="0"/>
            </a:br>
            <a:r>
              <a:rPr lang="en-US" sz="1800" dirty="0"/>
              <a:t>Reports remain queued locally until a relay or responder becomes reachable.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227033-D5C8-D188-4E8F-2EEC3722913A}"/>
              </a:ext>
            </a:extLst>
          </p:cNvPr>
          <p:cNvSpPr txBox="1"/>
          <p:nvPr/>
        </p:nvSpPr>
        <p:spPr>
          <a:xfrm>
            <a:off x="7188886" y="6304584"/>
            <a:ext cx="456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spcAft>
                <a:spcPts val="600"/>
              </a:spcAft>
            </a:pPr>
            <a:r>
              <a:rPr lang="en-US" sz="1400" b="1" dirty="0">
                <a:latin typeface="+mj-lt"/>
              </a:rPr>
              <a:t>ANVESHAN'26 • 24 HR HACKATHON</a:t>
            </a:r>
            <a:endParaRPr lang="en-US" sz="1400" b="1" i="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14668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109D3-3002-89B2-27E5-85A39FBDB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96D28-625B-91B3-748A-1D02A42BAC45}"/>
              </a:ext>
            </a:extLst>
          </p:cNvPr>
          <p:cNvSpPr txBox="1">
            <a:spLocks/>
          </p:cNvSpPr>
          <p:nvPr/>
        </p:nvSpPr>
        <p:spPr>
          <a:xfrm>
            <a:off x="625172" y="496935"/>
            <a:ext cx="5264351" cy="5338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800" b="0" kern="1200" spc="-11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04. Methodology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887651-C6DA-F220-BD71-1C3F9850C3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5531" y="1130710"/>
            <a:ext cx="6008560" cy="5604387"/>
          </a:xfrm>
        </p:spPr>
        <p:txBody>
          <a:bodyPr>
            <a:normAutofit/>
          </a:bodyPr>
          <a:lstStyle/>
          <a:p>
            <a:r>
              <a:rPr lang="en-US" sz="1800" dirty="0"/>
              <a:t>Emergency information moves locally first, then reaches responders when connectivity becomes available.</a:t>
            </a:r>
          </a:p>
          <a:p>
            <a:pPr lvl="2"/>
            <a:r>
              <a:rPr lang="en-US" sz="1800" b="1" dirty="0"/>
              <a:t>CAPTURE</a:t>
            </a:r>
            <a:br>
              <a:rPr lang="en-US" sz="1800" dirty="0"/>
            </a:br>
            <a:r>
              <a:rPr lang="en-US" sz="1800" dirty="0"/>
              <a:t>Structured incident report</a:t>
            </a:r>
          </a:p>
          <a:p>
            <a:pPr lvl="2"/>
            <a:r>
              <a:rPr lang="en-US" sz="1800" b="1" dirty="0"/>
              <a:t>STORE</a:t>
            </a:r>
            <a:br>
              <a:rPr lang="en-US" sz="1800" dirty="0"/>
            </a:br>
            <a:r>
              <a:rPr lang="en-US" sz="1800" dirty="0"/>
              <a:t>Saved locally</a:t>
            </a:r>
          </a:p>
          <a:p>
            <a:pPr lvl="2"/>
            <a:r>
              <a:rPr lang="en-US" sz="1800" b="1" dirty="0"/>
              <a:t>PRIORITIZE</a:t>
            </a:r>
            <a:br>
              <a:rPr lang="en-US" sz="1800" dirty="0"/>
            </a:br>
            <a:r>
              <a:rPr lang="en-US" sz="1800" dirty="0"/>
              <a:t>Severity-based queue</a:t>
            </a:r>
          </a:p>
          <a:p>
            <a:pPr lvl="2"/>
            <a:r>
              <a:rPr lang="en-US" sz="1800" b="1" dirty="0"/>
              <a:t>RELAY</a:t>
            </a:r>
            <a:br>
              <a:rPr lang="en-US" sz="1800" dirty="0"/>
            </a:br>
            <a:r>
              <a:rPr lang="en-US" sz="1800" dirty="0"/>
              <a:t>Local peer exchange</a:t>
            </a:r>
          </a:p>
          <a:p>
            <a:pPr lvl="2"/>
            <a:r>
              <a:rPr lang="en-US" sz="1800" b="1" dirty="0"/>
              <a:t>SYNC</a:t>
            </a:r>
            <a:br>
              <a:rPr lang="en-US" sz="1800" dirty="0"/>
            </a:br>
            <a:r>
              <a:rPr lang="en-US" sz="1800" dirty="0"/>
              <a:t>Upload when connected</a:t>
            </a:r>
          </a:p>
          <a:p>
            <a:pPr lvl="2"/>
            <a:r>
              <a:rPr lang="en-US" sz="1800" b="1" dirty="0"/>
              <a:t>RESPOND</a:t>
            </a:r>
            <a:br>
              <a:rPr lang="en-US" sz="1800" dirty="0"/>
            </a:br>
            <a:r>
              <a:rPr lang="en-US" sz="1800" dirty="0"/>
              <a:t>Verify → Assign → Resolve</a:t>
            </a:r>
          </a:p>
          <a:p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36D7F5-99EF-7AF6-AB0B-C3074E021AE8}"/>
              </a:ext>
            </a:extLst>
          </p:cNvPr>
          <p:cNvSpPr txBox="1"/>
          <p:nvPr/>
        </p:nvSpPr>
        <p:spPr>
          <a:xfrm>
            <a:off x="7188886" y="6304584"/>
            <a:ext cx="456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spcAft>
                <a:spcPts val="600"/>
              </a:spcAft>
            </a:pPr>
            <a:r>
              <a:rPr lang="en-US" sz="1400" b="1" dirty="0">
                <a:latin typeface="+mj-lt"/>
              </a:rPr>
              <a:t>ANVESHAN'26 • 24 HR HACKATHON</a:t>
            </a:r>
            <a:endParaRPr lang="en-US" sz="1400" b="1" i="0" dirty="0">
              <a:effectLst/>
              <a:latin typeface="+mj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9498B6-83F5-25B2-D091-97913429E3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9941" y="242397"/>
            <a:ext cx="3411793" cy="60621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1B0DC6-7EB9-6D59-C92D-F1197AEAE2ED}"/>
              </a:ext>
            </a:extLst>
          </p:cNvPr>
          <p:cNvSpPr txBox="1"/>
          <p:nvPr/>
        </p:nvSpPr>
        <p:spPr>
          <a:xfrm>
            <a:off x="4921846" y="2704313"/>
            <a:ext cx="3411793" cy="286232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u="sng" dirty="0"/>
              <a:t>SAMPLE INCIDENT REPORT</a:t>
            </a:r>
          </a:p>
          <a:p>
            <a:r>
              <a:rPr lang="en-US" b="1" dirty="0"/>
              <a:t>NX-1042</a:t>
            </a:r>
            <a:br>
              <a:rPr lang="en-US" dirty="0"/>
            </a:br>
            <a:r>
              <a:rPr lang="en-US" b="1" dirty="0"/>
              <a:t>Medical Emergency</a:t>
            </a:r>
            <a:endParaRPr lang="en-US" dirty="0"/>
          </a:p>
          <a:p>
            <a:r>
              <a:rPr lang="en-US" b="1" dirty="0"/>
              <a:t>Priority:</a:t>
            </a:r>
            <a:r>
              <a:rPr lang="en-US" dirty="0"/>
              <a:t> P0 — Critical</a:t>
            </a:r>
            <a:br>
              <a:rPr lang="en-US" dirty="0"/>
            </a:br>
            <a:r>
              <a:rPr lang="en-US" b="1" dirty="0"/>
              <a:t>People:</a:t>
            </a:r>
            <a:r>
              <a:rPr lang="en-US" dirty="0"/>
              <a:t> 2</a:t>
            </a:r>
            <a:br>
              <a:rPr lang="en-US" dirty="0"/>
            </a:br>
            <a:r>
              <a:rPr lang="en-US" b="1" dirty="0"/>
              <a:t>Location:</a:t>
            </a:r>
            <a:r>
              <a:rPr lang="en-US" dirty="0"/>
              <a:t> 13.0827, 80.2707</a:t>
            </a:r>
            <a:br>
              <a:rPr lang="en-US" dirty="0"/>
            </a:br>
            <a:r>
              <a:rPr lang="en-US" b="1" dirty="0"/>
              <a:t>Time:</a:t>
            </a:r>
            <a:r>
              <a:rPr lang="en-US" dirty="0"/>
              <a:t> 10:42 AM</a:t>
            </a:r>
            <a:br>
              <a:rPr lang="en-US" dirty="0"/>
            </a:br>
            <a:r>
              <a:rPr lang="en-US" b="1" dirty="0"/>
              <a:t>Status:</a:t>
            </a:r>
            <a:r>
              <a:rPr lang="en-US" dirty="0"/>
              <a:t> Unverified</a:t>
            </a:r>
            <a:br>
              <a:rPr lang="en-US" dirty="0"/>
            </a:br>
            <a:r>
              <a:rPr lang="en-US" b="1" dirty="0"/>
              <a:t>Need:</a:t>
            </a:r>
            <a:r>
              <a:rPr lang="en-US" dirty="0"/>
              <a:t> Immediate medical assistance</a:t>
            </a:r>
          </a:p>
        </p:txBody>
      </p:sp>
    </p:spTree>
    <p:extLst>
      <p:ext uri="{BB962C8B-B14F-4D97-AF65-F5344CB8AC3E}">
        <p14:creationId xmlns:p14="http://schemas.microsoft.com/office/powerpoint/2010/main" val="3107099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FADEE-9AAB-E1C4-6227-20557D482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8AB6B-DD1D-6476-43F2-B8FB744563FB}"/>
              </a:ext>
            </a:extLst>
          </p:cNvPr>
          <p:cNvSpPr txBox="1">
            <a:spLocks/>
          </p:cNvSpPr>
          <p:nvPr/>
        </p:nvSpPr>
        <p:spPr>
          <a:xfrm>
            <a:off x="625172" y="122903"/>
            <a:ext cx="6008560" cy="90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800" b="0" kern="1200" spc="-11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05. Implementation Approach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99100E-8C4F-9AA7-2D93-B0765B915A7E}"/>
              </a:ext>
            </a:extLst>
          </p:cNvPr>
          <p:cNvSpPr txBox="1"/>
          <p:nvPr/>
        </p:nvSpPr>
        <p:spPr>
          <a:xfrm>
            <a:off x="7188886" y="6304584"/>
            <a:ext cx="456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spcAft>
                <a:spcPts val="600"/>
              </a:spcAft>
            </a:pPr>
            <a:r>
              <a:rPr lang="en-US" sz="1400" b="1" dirty="0">
                <a:latin typeface="+mj-lt"/>
              </a:rPr>
              <a:t>ANVESHAN'26 • 24 HR HACKATHON</a:t>
            </a:r>
            <a:endParaRPr lang="en-US" sz="1400" b="1" i="0" dirty="0">
              <a:effectLst/>
              <a:latin typeface="+mj-lt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20D7F62-0CED-7F48-CBB7-E76F992737EB}"/>
              </a:ext>
            </a:extLst>
          </p:cNvPr>
          <p:cNvSpPr/>
          <p:nvPr/>
        </p:nvSpPr>
        <p:spPr>
          <a:xfrm>
            <a:off x="433690" y="1723019"/>
            <a:ext cx="3302508" cy="386584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Emergency Report</a:t>
            </a:r>
          </a:p>
          <a:p>
            <a:r>
              <a:rPr lang="en-US" sz="1400" i="1" dirty="0"/>
              <a:t> </a:t>
            </a:r>
            <a:r>
              <a:rPr lang="en-US" sz="1600" i="1" dirty="0"/>
              <a:t>Type • Location • Urgency • People • Status</a:t>
            </a:r>
            <a:endParaRPr lang="en-US" sz="1600" b="1" i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Location Capture</a:t>
            </a:r>
          </a:p>
          <a:p>
            <a:r>
              <a:rPr lang="en-US" sz="1600" i="1" dirty="0"/>
              <a:t>Geolocation API + Manual Fallback</a:t>
            </a:r>
            <a:endParaRPr lang="en-US" sz="1600" b="1" i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Status Tracking</a:t>
            </a:r>
          </a:p>
          <a:p>
            <a:r>
              <a:rPr lang="en-US" sz="1600" i="1" dirty="0"/>
              <a:t>Unverified → Verified → Assigned → Resolved</a:t>
            </a:r>
          </a:p>
          <a:p>
            <a:endParaRPr lang="en-US" sz="2000" b="1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44AA66F-418A-32F9-9A13-9C19C8955C6C}"/>
              </a:ext>
            </a:extLst>
          </p:cNvPr>
          <p:cNvSpPr/>
          <p:nvPr/>
        </p:nvSpPr>
        <p:spPr>
          <a:xfrm>
            <a:off x="4401937" y="1723020"/>
            <a:ext cx="3302508" cy="303186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r>
              <a:rPr lang="en-US" b="1" dirty="0"/>
              <a:t>Priority Engine</a:t>
            </a:r>
          </a:p>
          <a:p>
            <a:r>
              <a:rPr lang="en-US" sz="1600" i="1" dirty="0"/>
              <a:t>Severity-based queue</a:t>
            </a:r>
          </a:p>
          <a:p>
            <a:r>
              <a:rPr lang="en-US" b="1" dirty="0"/>
              <a:t>Deduplication</a:t>
            </a:r>
          </a:p>
          <a:p>
            <a:r>
              <a:rPr lang="en-US" sz="1600" i="1" dirty="0"/>
              <a:t>Unique ID + duplicate check</a:t>
            </a:r>
          </a:p>
          <a:p>
            <a:r>
              <a:rPr lang="en-US" b="1" dirty="0"/>
              <a:t>Store-Carry-Forward</a:t>
            </a:r>
          </a:p>
          <a:p>
            <a:r>
              <a:rPr lang="en-US" sz="1600" i="1" dirty="0"/>
              <a:t>Queue until relay is available</a:t>
            </a: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0761AB6D-7B4B-93BA-D2C0-A9F491509D50}"/>
              </a:ext>
            </a:extLst>
          </p:cNvPr>
          <p:cNvSpPr txBox="1">
            <a:spLocks/>
          </p:cNvSpPr>
          <p:nvPr/>
        </p:nvSpPr>
        <p:spPr>
          <a:xfrm>
            <a:off x="847225" y="1219127"/>
            <a:ext cx="2567361" cy="4946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800" b="0" kern="1200" spc="-11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/>
              <a:t>Application Layer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78302B8B-2EDA-F3C5-5CCB-7109EB749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999" y="1974450"/>
            <a:ext cx="894882" cy="850582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12C1904-24BB-75D1-84B8-251FCA847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095" y="1974450"/>
            <a:ext cx="638897" cy="82234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5B17F3E0-C72C-C020-1CCC-E8A18F3767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9119" y="2012301"/>
            <a:ext cx="1023252" cy="626857"/>
          </a:xfrm>
          <a:prstGeom prst="rect">
            <a:avLst/>
          </a:prstGeom>
        </p:spPr>
      </p:pic>
      <p:sp>
        <p:nvSpPr>
          <p:cNvPr id="46" name="Title 1">
            <a:extLst>
              <a:ext uri="{FF2B5EF4-FFF2-40B4-BE49-F238E27FC236}">
                <a16:creationId xmlns:a16="http://schemas.microsoft.com/office/drawing/2014/main" id="{775EE77D-D3E5-8466-8F2F-B5E019DFF863}"/>
              </a:ext>
            </a:extLst>
          </p:cNvPr>
          <p:cNvSpPr txBox="1">
            <a:spLocks/>
          </p:cNvSpPr>
          <p:nvPr/>
        </p:nvSpPr>
        <p:spPr>
          <a:xfrm>
            <a:off x="4527442" y="1099106"/>
            <a:ext cx="3302508" cy="62391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800" b="0" kern="1200" spc="-11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/>
              <a:t>Offline Core &amp; Peer Relay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DC85EF30-D76B-2848-2287-63B2542B87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9860" y="1999251"/>
            <a:ext cx="680681" cy="708578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BA5968CC-8372-D444-16D1-50504B3F2F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3763" y="1999251"/>
            <a:ext cx="1548947" cy="511074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AEFB9572-D9D8-3D4C-B21E-0E1FEBFD5E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1461" y="1988091"/>
            <a:ext cx="637457" cy="771020"/>
          </a:xfrm>
          <a:prstGeom prst="rect">
            <a:avLst/>
          </a:prstGeom>
        </p:spPr>
      </p:pic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C49DF1E2-E612-81BF-7AFB-794B3FDDA1F8}"/>
              </a:ext>
            </a:extLst>
          </p:cNvPr>
          <p:cNvSpPr/>
          <p:nvPr/>
        </p:nvSpPr>
        <p:spPr>
          <a:xfrm>
            <a:off x="8402477" y="1780839"/>
            <a:ext cx="3302508" cy="3762941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r>
              <a:rPr lang="en-US" dirty="0"/>
              <a:t>Cloud Sync</a:t>
            </a:r>
          </a:p>
          <a:p>
            <a:r>
              <a:rPr lang="en-US" sz="1600" i="1" dirty="0"/>
              <a:t>When connectivity returns</a:t>
            </a:r>
          </a:p>
          <a:p>
            <a:endParaRPr lang="en-US" dirty="0"/>
          </a:p>
          <a:p>
            <a:r>
              <a:rPr lang="en-US" dirty="0"/>
              <a:t>Responder Dashboard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r>
              <a:rPr lang="en-US" dirty="0"/>
              <a:t>Priority Queue</a:t>
            </a:r>
            <a:br>
              <a:rPr lang="en-US" dirty="0"/>
            </a:br>
            <a:r>
              <a:rPr lang="en-US" sz="1600" i="1" dirty="0"/>
              <a:t>Verify → Assign → Resolve</a:t>
            </a:r>
          </a:p>
          <a:p>
            <a:pPr algn="ctr"/>
            <a:endParaRPr lang="en-US" dirty="0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2CBC6AB6-1F30-AE84-EF0B-14331B6CE0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36532" y="4026195"/>
            <a:ext cx="1580885" cy="512387"/>
          </a:xfrm>
          <a:prstGeom prst="rect">
            <a:avLst/>
          </a:prstGeom>
        </p:spPr>
      </p:pic>
      <p:sp>
        <p:nvSpPr>
          <p:cNvPr id="74" name="Title 1">
            <a:extLst>
              <a:ext uri="{FF2B5EF4-FFF2-40B4-BE49-F238E27FC236}">
                <a16:creationId xmlns:a16="http://schemas.microsoft.com/office/drawing/2014/main" id="{22DB720B-BB8D-EB74-F996-74D3C9D77FE0}"/>
              </a:ext>
            </a:extLst>
          </p:cNvPr>
          <p:cNvSpPr txBox="1">
            <a:spLocks/>
          </p:cNvSpPr>
          <p:nvPr/>
        </p:nvSpPr>
        <p:spPr>
          <a:xfrm>
            <a:off x="8495689" y="1211317"/>
            <a:ext cx="3116085" cy="51662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800" b="0" kern="1200" spc="-11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/>
              <a:t>Sync &amp; Response Layer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CD06EA9-356C-0ACD-5CCF-1AD638DC4D0E}"/>
              </a:ext>
            </a:extLst>
          </p:cNvPr>
          <p:cNvSpPr/>
          <p:nvPr/>
        </p:nvSpPr>
        <p:spPr>
          <a:xfrm>
            <a:off x="8465699" y="2146474"/>
            <a:ext cx="3146075" cy="5613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   Firebase /       Supabase</a:t>
            </a: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76EF03E3-B20B-59CD-38BD-BFE2DA48310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0401" t="11316" r="14105"/>
          <a:stretch>
            <a:fillRect/>
          </a:stretch>
        </p:blipFill>
        <p:spPr>
          <a:xfrm>
            <a:off x="8520040" y="2244824"/>
            <a:ext cx="289402" cy="364654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A12BAED5-B711-6D9B-BDE4-17406586CC1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38735" y="2254788"/>
            <a:ext cx="289402" cy="342021"/>
          </a:xfrm>
          <a:prstGeom prst="rect">
            <a:avLst/>
          </a:prstGeom>
        </p:spPr>
      </p:pic>
      <p:sp>
        <p:nvSpPr>
          <p:cNvPr id="101" name="Arrow: Right 100">
            <a:extLst>
              <a:ext uri="{FF2B5EF4-FFF2-40B4-BE49-F238E27FC236}">
                <a16:creationId xmlns:a16="http://schemas.microsoft.com/office/drawing/2014/main" id="{2B750C06-EE11-660A-2796-390033894EB0}"/>
              </a:ext>
            </a:extLst>
          </p:cNvPr>
          <p:cNvSpPr/>
          <p:nvPr/>
        </p:nvSpPr>
        <p:spPr>
          <a:xfrm>
            <a:off x="3752344" y="3429000"/>
            <a:ext cx="665739" cy="484632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" name="Arrow: Right 102">
            <a:extLst>
              <a:ext uri="{FF2B5EF4-FFF2-40B4-BE49-F238E27FC236}">
                <a16:creationId xmlns:a16="http://schemas.microsoft.com/office/drawing/2014/main" id="{03AD4214-8915-E76B-5742-52E3A4E1D7DB}"/>
              </a:ext>
            </a:extLst>
          </p:cNvPr>
          <p:cNvSpPr/>
          <p:nvPr/>
        </p:nvSpPr>
        <p:spPr>
          <a:xfrm>
            <a:off x="7736738" y="3391084"/>
            <a:ext cx="665739" cy="484632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13AB74B1-756F-A021-9F75-18AE447456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84344" y="2538748"/>
            <a:ext cx="1644471" cy="440725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A8867880-ECAC-6534-C9F4-9D52E430D37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90220" y="4855067"/>
            <a:ext cx="4011560" cy="179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21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CA074-2C51-C6C6-3025-45FEF05C3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F0EF2-7C52-15EA-8A78-7D7738392217}"/>
              </a:ext>
            </a:extLst>
          </p:cNvPr>
          <p:cNvSpPr txBox="1">
            <a:spLocks/>
          </p:cNvSpPr>
          <p:nvPr/>
        </p:nvSpPr>
        <p:spPr>
          <a:xfrm>
            <a:off x="625172" y="122903"/>
            <a:ext cx="6008560" cy="90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800" b="0" kern="1200" spc="-11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06. Expected Impact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2A7EA1-01E1-0ABF-F833-4E781BDE3E86}"/>
              </a:ext>
            </a:extLst>
          </p:cNvPr>
          <p:cNvSpPr txBox="1"/>
          <p:nvPr/>
        </p:nvSpPr>
        <p:spPr>
          <a:xfrm>
            <a:off x="7188886" y="6304584"/>
            <a:ext cx="456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spcAft>
                <a:spcPts val="600"/>
              </a:spcAft>
            </a:pPr>
            <a:r>
              <a:rPr lang="en-US" sz="1400" b="1" dirty="0">
                <a:latin typeface="+mj-lt"/>
              </a:rPr>
              <a:t>ANVESHAN'26 • 24 HR HACKATHON</a:t>
            </a:r>
            <a:endParaRPr lang="en-US" sz="1400" b="1" i="0" dirty="0">
              <a:effectLst/>
              <a:latin typeface="+mj-lt"/>
            </a:endParaRP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21179A79-C1C8-8EB8-7A42-8F038DF1F8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782079"/>
              </p:ext>
            </p:extLst>
          </p:nvPr>
        </p:nvGraphicFramePr>
        <p:xfrm>
          <a:off x="799432" y="1271104"/>
          <a:ext cx="10593136" cy="452748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296568">
                  <a:extLst>
                    <a:ext uri="{9D8B030D-6E8A-4147-A177-3AD203B41FA5}">
                      <a16:colId xmlns:a16="http://schemas.microsoft.com/office/drawing/2014/main" val="2127410063"/>
                    </a:ext>
                  </a:extLst>
                </a:gridCol>
                <a:gridCol w="5296568">
                  <a:extLst>
                    <a:ext uri="{9D8B030D-6E8A-4147-A177-3AD203B41FA5}">
                      <a16:colId xmlns:a16="http://schemas.microsoft.com/office/drawing/2014/main" val="1233601693"/>
                    </a:ext>
                  </a:extLst>
                </a:gridCol>
              </a:tblGrid>
              <a:tr h="472441">
                <a:tc>
                  <a:txBody>
                    <a:bodyPr/>
                    <a:lstStyle/>
                    <a:p>
                      <a:pPr marL="34290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Faster Emergency Response</a:t>
                      </a:r>
                      <a:endParaRPr lang="en-US" sz="2000" dirty="0">
                        <a:latin typeface="Neue Haas Grotesk Text Pro (Body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Better Situational Awareness</a:t>
                      </a:r>
                      <a:endParaRPr lang="en-US" sz="2000" dirty="0">
                        <a:latin typeface="Neue Haas Grotesk Text Pro (Body)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539956"/>
                  </a:ext>
                </a:extLst>
              </a:tr>
              <a:tr h="791277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          Critical incidents surface before routine updates.</a:t>
                      </a:r>
                      <a:endParaRPr lang="en-US" sz="2000" dirty="0">
                        <a:latin typeface="Neue Haas Grotesk Text Pro (Body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         </a:t>
                      </a:r>
                      <a:r>
                        <a:rPr lang="en-US" sz="2000" b="0" dirty="0"/>
                        <a:t>Structured reports show location, urgency, people and status.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5135271"/>
                  </a:ext>
                </a:extLst>
              </a:tr>
              <a:tr h="427923">
                <a:tc>
                  <a:txBody>
                    <a:bodyPr/>
                    <a:lstStyle/>
                    <a:p>
                      <a:pPr marL="34290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2000" b="1" dirty="0"/>
                        <a:t>Resilient Community Communication</a:t>
                      </a:r>
                      <a:endParaRPr lang="en-US" sz="2000" b="1" dirty="0">
                        <a:latin typeface="Neue Haas Grotesk Text Pro (Body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2000" b="1" dirty="0"/>
                        <a:t>Efficient Resource Coordination</a:t>
                      </a:r>
                      <a:endParaRPr lang="en-US" sz="2000" b="1" dirty="0">
                        <a:latin typeface="Neue Haas Grotesk Text Pro (Body)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1151262"/>
                  </a:ext>
                </a:extLst>
              </a:tr>
              <a:tr h="7912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           Reports can be created and preserved during connectivity loss.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         </a:t>
                      </a:r>
                      <a:r>
                        <a:rPr lang="en-US" sz="2000" b="0" dirty="0"/>
                        <a:t>Coordinate shelters, food, water, medical needs and safety updates.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187983"/>
                  </a:ext>
                </a:extLst>
              </a:tr>
              <a:tr h="791277">
                <a:tc>
                  <a:txBody>
                    <a:bodyPr/>
                    <a:lstStyle/>
                    <a:p>
                      <a:pPr algn="r"/>
                      <a:endParaRPr lang="en-US" sz="2000" i="1" dirty="0"/>
                    </a:p>
                    <a:p>
                      <a:pPr algn="r"/>
                      <a:endParaRPr lang="en-US" sz="2000" i="1" dirty="0"/>
                    </a:p>
                    <a:p>
                      <a:pPr algn="r"/>
                      <a:r>
                        <a:rPr lang="en-US" sz="2000" dirty="0"/>
                        <a:t>From scattered messages to</a:t>
                      </a:r>
                      <a:endParaRPr lang="en-US" sz="2000" i="1" dirty="0"/>
                    </a:p>
                    <a:p>
                      <a:pPr algn="r"/>
                      <a:endParaRPr lang="en-US" sz="2000" i="1" dirty="0"/>
                    </a:p>
                    <a:p>
                      <a:pPr algn="r"/>
                      <a:r>
                        <a:rPr lang="en-US" sz="2000" i="1" dirty="0"/>
                        <a:t>Floods • Cyclones • Rural Areas</a:t>
                      </a:r>
                      <a:endParaRPr lang="en-US" sz="2000" i="1" dirty="0">
                        <a:latin typeface="Neue Haas Grotesk Text Pro (Body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endParaRPr lang="en-US" sz="2000" i="1" dirty="0"/>
                    </a:p>
                    <a:p>
                      <a:pPr algn="just"/>
                      <a:endParaRPr lang="en-US" sz="2000" i="1" dirty="0"/>
                    </a:p>
                    <a:p>
                      <a:pPr algn="just"/>
                      <a:r>
                        <a:rPr lang="en-US" sz="2000" dirty="0"/>
                        <a:t>one prioritized emergency picture.</a:t>
                      </a:r>
                      <a:endParaRPr lang="en-US" sz="2000" i="1" dirty="0"/>
                    </a:p>
                    <a:p>
                      <a:pPr algn="just"/>
                      <a:endParaRPr lang="en-US" sz="2000" i="1" dirty="0"/>
                    </a:p>
                    <a:p>
                      <a:pPr algn="just"/>
                      <a:r>
                        <a:rPr lang="en-US" sz="2000" i="1" dirty="0"/>
                        <a:t>• Relief Camps • Campuses • Large Events</a:t>
                      </a:r>
                      <a:endParaRPr lang="en-US" sz="2000" i="1" dirty="0">
                        <a:latin typeface="Neue Haas Grotesk Text Pro (Body)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098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9044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B97CB-1768-907E-46FA-98ACF298C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11CB933-FA2F-8C2E-C1E7-15A01945F7E4}"/>
              </a:ext>
            </a:extLst>
          </p:cNvPr>
          <p:cNvSpPr txBox="1">
            <a:spLocks/>
          </p:cNvSpPr>
          <p:nvPr/>
        </p:nvSpPr>
        <p:spPr>
          <a:xfrm>
            <a:off x="625172" y="122903"/>
            <a:ext cx="6008560" cy="90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800" b="0" kern="1200" spc="-11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07. MVP, Feasibility &amp; Viability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720921-8D4F-35B1-6132-86FC9FCB0AC9}"/>
              </a:ext>
            </a:extLst>
          </p:cNvPr>
          <p:cNvSpPr txBox="1"/>
          <p:nvPr/>
        </p:nvSpPr>
        <p:spPr>
          <a:xfrm>
            <a:off x="7188886" y="6304584"/>
            <a:ext cx="456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spcAft>
                <a:spcPts val="600"/>
              </a:spcAft>
            </a:pPr>
            <a:r>
              <a:rPr lang="en-US" sz="1400" b="1" dirty="0">
                <a:latin typeface="+mj-lt"/>
              </a:rPr>
              <a:t>ANVESHAN'26 • 24 HR HACKATHON</a:t>
            </a:r>
            <a:endParaRPr lang="en-US" sz="1400" b="1" i="0" dirty="0">
              <a:effectLst/>
              <a:latin typeface="+mj-lt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3FC778F-0788-81A7-55DC-4BC2AE50A4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476667"/>
              </p:ext>
            </p:extLst>
          </p:nvPr>
        </p:nvGraphicFramePr>
        <p:xfrm>
          <a:off x="1061884" y="1117707"/>
          <a:ext cx="10068231" cy="4937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56077">
                  <a:extLst>
                    <a:ext uri="{9D8B030D-6E8A-4147-A177-3AD203B41FA5}">
                      <a16:colId xmlns:a16="http://schemas.microsoft.com/office/drawing/2014/main" val="1297683001"/>
                    </a:ext>
                  </a:extLst>
                </a:gridCol>
                <a:gridCol w="3356077">
                  <a:extLst>
                    <a:ext uri="{9D8B030D-6E8A-4147-A177-3AD203B41FA5}">
                      <a16:colId xmlns:a16="http://schemas.microsoft.com/office/drawing/2014/main" val="259343516"/>
                    </a:ext>
                  </a:extLst>
                </a:gridCol>
                <a:gridCol w="3356077">
                  <a:extLst>
                    <a:ext uri="{9D8B030D-6E8A-4147-A177-3AD203B41FA5}">
                      <a16:colId xmlns:a16="http://schemas.microsoft.com/office/drawing/2014/main" val="1654073428"/>
                    </a:ext>
                  </a:extLst>
                </a:gridCol>
              </a:tblGrid>
              <a:tr h="32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MVP SCOPE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TECHNICAL FEASIBILITY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VIABILITY &amp; SCALABILITY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0505339"/>
                  </a:ext>
                </a:extLst>
              </a:tr>
              <a:tr h="8217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Offline-First PWA</a:t>
                      </a:r>
                      <a:r>
                        <a:rPr lang="en-US"/>
                        <a:t> — Emergency reporting + local 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React + Vite + PWA</a:t>
                      </a:r>
                      <a:r>
                        <a:rPr lang="en-US"/>
                        <a:t> — Cross-platform mobile 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Disaster Operations</a:t>
                      </a:r>
                      <a:r>
                        <a:rPr lang="en-US"/>
                        <a:t> — Floods, cyclones, outages, relief camps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1687560"/>
                  </a:ext>
                </a:extLst>
              </a:tr>
              <a:tr h="8217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Structured Reports</a:t>
                      </a:r>
                      <a:r>
                        <a:rPr lang="en-US"/>
                        <a:t> — Type, location, urgency, people, 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IndexedDB + Dexie.js</a:t>
                      </a:r>
                      <a:r>
                        <a:rPr lang="en-US"/>
                        <a:t> — Offline persistence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Community Coordination</a:t>
                      </a:r>
                      <a:r>
                        <a:rPr lang="en-US"/>
                        <a:t> — Resources, shelters, safety updates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1809935"/>
                  </a:ext>
                </a:extLst>
              </a:tr>
              <a:tr h="8217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Local Peer Relay</a:t>
                      </a:r>
                      <a:r>
                        <a:rPr lang="en-US" dirty="0"/>
                        <a:t> — Shared Wi-Fi / hotspot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WebRTC DataChannel</a:t>
                      </a:r>
                      <a:r>
                        <a:rPr lang="en-US"/>
                        <a:t> — Local peer exchange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Store-Carry-Forward</a:t>
                      </a:r>
                      <a:r>
                        <a:rPr lang="en-US" dirty="0"/>
                        <a:t> — Relay when peers become available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1274173"/>
                  </a:ext>
                </a:extLst>
              </a:tr>
              <a:tr h="8217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Priority &amp; Deduplication</a:t>
                      </a:r>
                      <a:r>
                        <a:rPr lang="en-US"/>
                        <a:t> — Critical-first + duplicate filtering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Firebase / Supabase</a:t>
                      </a:r>
                      <a:r>
                        <a:rPr lang="en-US"/>
                        <a:t> — Sync when connected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Transport Evolution</a:t>
                      </a:r>
                      <a:r>
                        <a:rPr lang="en-US"/>
                        <a:t> — Native Wi-Fi Direct / 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0153469"/>
                  </a:ext>
                </a:extLst>
              </a:tr>
              <a:tr h="8217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Responder Dashboard</a:t>
                      </a:r>
                      <a:r>
                        <a:rPr lang="en-US"/>
                        <a:t> — Map, priority, status, resources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Web Crypto API</a:t>
                      </a:r>
                      <a:r>
                        <a:rPr lang="en-US"/>
                        <a:t> — Integrity / security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Deployment Expansion</a:t>
                      </a:r>
                      <a:r>
                        <a:rPr lang="en-US" dirty="0"/>
                        <a:t> — Campuses, communities, emergency operations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2195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4230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CE2B9-44E5-6831-38F5-8DC8D0B63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57FC13A-0C1D-EC3E-C5DD-DD854DDEBE59}"/>
              </a:ext>
            </a:extLst>
          </p:cNvPr>
          <p:cNvSpPr txBox="1"/>
          <p:nvPr/>
        </p:nvSpPr>
        <p:spPr>
          <a:xfrm>
            <a:off x="2037347" y="2644170"/>
            <a:ext cx="811730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64640405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1201</TotalTime>
  <Words>706</Words>
  <Application>Microsoft Office PowerPoint</Application>
  <PresentationFormat>Widescreen</PresentationFormat>
  <Paragraphs>133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Courier New</vt:lpstr>
      <vt:lpstr>Neue Haas Grotesk Text Pro</vt:lpstr>
      <vt:lpstr>Neue Haas Grotesk Text Pro (Body)</vt:lpstr>
      <vt:lpstr>Neue Haas Grotesk Text Pro (Headings)</vt:lpstr>
      <vt:lpstr>Wingdings</vt:lpstr>
      <vt:lpstr>Film Burn</vt:lpstr>
      <vt:lpstr>PowerPoint Presentation</vt:lpstr>
      <vt:lpstr>01. Problem Understanding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Pratik Das</dc:creator>
  <cp:lastModifiedBy>Pratik Das</cp:lastModifiedBy>
  <cp:revision>6</cp:revision>
  <dcterms:created xsi:type="dcterms:W3CDTF">2026-08-28T18:11:51Z</dcterms:created>
  <dcterms:modified xsi:type="dcterms:W3CDTF">2026-08-30T12:14:28Z</dcterms:modified>
</cp:coreProperties>
</file>